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Lst>
  <p:sldSz cx="9144000" cy="5143500"/>
  <p:notesSz cx="6857895" cy="9143861"/>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1pPr>
    <a:lvl2pPr marL="457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2pPr>
    <a:lvl3pPr marL="914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3pPr>
    <a:lvl4pPr marL="13716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4pPr>
    <a:lvl5pPr marL="18288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5pPr>
    <a:lvl6pPr marL="22860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6pPr>
    <a:lvl7pPr marL="27432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7pPr>
    <a:lvl8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8pPr>
    <a:lvl9pPr marL="3200400" indent="0" algn="l" defTabSz="914400" eaLnBrk="1" fontAlgn="auto" latinLnBrk="0" hangingPunct="1">
      <a:buNone/>
      <a:defRPr sz="1800" kern="1200">
        <a:solidFill>
          <a:schemeClr val="tx1"/>
        </a:solidFill>
        <a:latin typeface="Droid Sans" pitchFamily="0" charset="0"/>
        <a:ea typeface="宋体" pitchFamily="0" charset="0"/>
        <a:cs typeface="Droid Sans" pitchFamily="0" charset="0"/>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showNarration="1">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11" autoAdjust="0"/>
    <p:restoredTop sz="99500" autoAdjust="0"/>
  </p:normalViewPr>
  <p:slideViewPr>
    <p:cSldViewPr snapToGrid="0" snapToObjects="1">
      <p:cViewPr>
        <p:scale>
          <a:sx n="177" d="100"/>
          <a:sy n="177" d="100"/>
        </p:scale>
        <p:origin x="0" y="0"/>
      </p:cViewPr>
      <p:guideLst/>
    </p:cSldViewPr>
  </p:slideViewPr>
  <p:outlineViewPr>
    <p:cViewPr>
      <p:scale>
        <a:sx n="33" d="100"/>
        <a:sy n="33" d="100"/>
      </p:scale>
      <p:origin x="0" y="0"/>
    </p:cViewPr>
    <p:sldLst/>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&lt;#&gt;</a:t>
            </a:fld>
            <a:endParaRPr lang="zh-CN" altLang="en-US" sz="1200">
              <a:latin typeface="Calibri" pitchFamily="0" charset="0"/>
              <a:ea typeface="等线" pitchFamily="0" charset="0"/>
              <a:cs typeface="Calibri" pitchFamily="0" charset="0"/>
            </a:endParaRPr>
          </a:p>
        </p:txBody>
      </p:sp>
      <p:sp>
        <p:nvSpPr>
          <p:cNvPr id="2" name="文本框"/>
          <p:cNvSpPr>
            <a:spLocks noGrp="1"/>
          </p:cNvSpPr>
          <p:nvPr>
            <p:ph type="hdr"/>
          </p:nvPr>
        </p:nvSpPr>
        <p:spPr>
          <a:xfrm rot="0">
            <a:off x="0" y="0"/>
            <a:ext cx="2971799" cy="458787"/>
          </a:xfrm>
          <a:prstGeom prst="rect"/>
          <a:noFill/>
          <a:ln w="12700" cmpd="sng" cap="flat">
            <a:noFill/>
            <a:prstDash val="solid"/>
            <a:miter/>
          </a:ln>
        </p:spPr>
        <p:txBody>
          <a:bodyPr vert="horz" wrap="square" lIns="91440" tIns="45720" rIns="91440" bIns="45720" anchor="t" anchorCtr="0">
            <a:prstTxWarp prst="textNoShape"/>
          </a:bodyPr>
          <a:lstStyle/>
          <a:p>
            <a:pPr algn="l"/>
            <a:endParaRPr lang="zh-CN" altLang="en-US" sz="1200">
              <a:latin typeface="Calibri" pitchFamily="0" charset="0"/>
              <a:ea typeface="等线" pitchFamily="0" charset="0"/>
              <a:cs typeface="Calibri" pitchFamily="0" charset="0"/>
            </a:endParaRPr>
          </a:p>
        </p:txBody>
      </p:sp>
      <p:sp>
        <p:nvSpPr>
          <p:cNvPr id="3" name="文本框"/>
          <p:cNvSpPr>
            <a:spLocks noGrp="1"/>
          </p:cNvSpPr>
          <p:nvPr>
            <p:ph type="dt" idx="1"/>
          </p:nvPr>
        </p:nvSpPr>
        <p:spPr>
          <a:xfrm rot="0">
            <a:off x="3884613" y="0"/>
            <a:ext cx="2971800" cy="458787"/>
          </a:xfrm>
          <a:prstGeom prst="rect"/>
          <a:noFill/>
          <a:ln w="12700" cmpd="sng" cap="flat">
            <a:noFill/>
            <a:prstDash val="solid"/>
            <a:miter/>
          </a:ln>
        </p:spPr>
        <p:txBody>
          <a:bodyPr vert="horz" wrap="square" lIns="91440" tIns="45720" rIns="91440" bIns="45720" anchor="t" anchorCtr="0">
            <a:prstTxWarp prst="textNoShape"/>
          </a:bodyPr>
          <a:lstStyle/>
          <a:p>
            <a:pPr algn="r"/>
            <a:fld id="{CAD2D6BD-DE1B-4B5F-8B41-2702339687B9}" type="datetime1">
              <a:rPr lang="en-US" altLang="zh-CN" sz="1200">
                <a:latin typeface="Calibri" pitchFamily="0" charset="0"/>
                <a:ea typeface="等线" pitchFamily="0" charset="0"/>
                <a:cs typeface="Calibri" pitchFamily="0" charset="0"/>
              </a:rPr>
              <a:t>7/5/2026</a:t>
            </a:fld>
            <a:endParaRPr lang="zh-CN" altLang="en-US" sz="1200">
              <a:latin typeface="Calibri" pitchFamily="0" charset="0"/>
              <a:ea typeface="等线" pitchFamily="0" charset="0"/>
              <a:cs typeface="Calibri" pitchFamily="0" charset="0"/>
            </a:endParaRPr>
          </a:p>
        </p:txBody>
      </p:sp>
      <p:sp>
        <p:nvSpPr>
          <p:cNvPr id="4" name="对象"/>
          <p:cNvSpPr>
            <a:spLocks noGrp="1" noChangeAspect="1"/>
          </p:cNvSpPr>
          <p:nvPr>
            <p:ph type="sldImg" idx="2"/>
          </p:nvPr>
        </p:nvSpPr>
        <p:spPr>
          <a:xfrm rot="0">
            <a:off x="685800" y="1143000"/>
            <a:ext cx="5486400" cy="3086100"/>
          </a:xfrm>
          <a:prstGeom prst="rect"/>
          <a:noFill/>
          <a:ln w="12700" cmpd="sng" cap="flat">
            <a:solidFill>
              <a:srgbClr val="000000"/>
            </a:solidFill>
            <a:prstDash val="solid"/>
            <a:round/>
          </a:ln>
        </p:spPr>
      </p:sp>
      <p:sp>
        <p:nvSpPr>
          <p:cNvPr id="5" name="文本框"/>
          <p:cNvSpPr>
            <a:spLocks noGrp="1"/>
          </p:cNvSpPr>
          <p:nvPr>
            <p:ph type="body" idx="3"/>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文本框"/>
          <p:cNvSpPr>
            <a:spLocks noGrp="1"/>
          </p:cNvSpPr>
          <p:nvPr>
            <p:ph type="ftr" idx="4"/>
          </p:nvPr>
        </p:nvSpPr>
        <p:spPr>
          <a:xfrm rot="0">
            <a:off x="0" y="8685213"/>
            <a:ext cx="2971799" cy="458787"/>
          </a:xfrm>
          <a:prstGeom prst="rect"/>
          <a:noFill/>
          <a:ln w="12700" cmpd="sng" cap="flat">
            <a:noFill/>
            <a:prstDash val="solid"/>
            <a:miter/>
          </a:ln>
        </p:spPr>
        <p:txBody>
          <a:bodyPr vert="horz" wrap="square" lIns="91440" tIns="45720" rIns="91440" bIns="45720" anchor="b" anchorCtr="0">
            <a:prstTxWarp prst="textNoShape"/>
          </a:bodyPr>
          <a:lstStyle/>
          <a:p>
            <a:pPr algn="l"/>
            <a:endParaRPr lang="zh-CN" altLang="en-US" sz="1200">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40372401"/>
      </p:ext>
    </p:extLst>
  </p:cSld>
  <p:clrMap bg1="lt1" tx1="dk1" bg2="lt2" tx2="dk2" accent1="accent1" accent2="accent2" accent3="accent3" accent4="accent4" accent5="accent5" accent6="accent6" hlink="hlink" folHlink="folHlink"/>
  <p:hf sldNum="1"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itchFamily="0" charset="0"/>
        <a:ea typeface="等线" pitchFamily="0" charset="0"/>
        <a:cs typeface="Calibri" pitchFamily="0" charset="0"/>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a:t>
            </a:fld>
            <a:endParaRPr lang="zh-CN" altLang="en-US" sz="1200">
              <a:latin typeface="Calibri" pitchFamily="0" charset="0"/>
              <a:ea typeface="等线" pitchFamily="0" charset="0"/>
              <a:cs typeface="Calibri" pitchFamily="0" charset="0"/>
            </a:endParaRPr>
          </a:p>
        </p:txBody>
      </p:sp>
      <p:sp>
        <p:nvSpPr>
          <p:cNvPr id="19"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0"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287328613"/>
      </p:ext>
    </p:extLst>
  </p:cSld>
  <p:clrMapOvr>
    <a:masterClrMapping/>
  </p:clrMapOvr>
</p:notes>
</file>

<file path=ppt/notesSlides/notesSlide2.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2</a:t>
            </a:fld>
            <a:endParaRPr lang="zh-CN" altLang="en-US" sz="1200">
              <a:latin typeface="Calibri" pitchFamily="0" charset="0"/>
              <a:ea typeface="等线" pitchFamily="0" charset="0"/>
              <a:cs typeface="Calibri" pitchFamily="0" charset="0"/>
            </a:endParaRPr>
          </a:p>
        </p:txBody>
      </p:sp>
      <p:sp>
        <p:nvSpPr>
          <p:cNvPr id="40"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41"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875736185"/>
      </p:ext>
    </p:extLst>
  </p:cSld>
  <p:clrMapOvr>
    <a:masterClrMapping/>
  </p:clrMapOvr>
</p:notes>
</file>

<file path=ppt/notesSlides/notesSlide3.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3</a:t>
            </a:fld>
            <a:endParaRPr lang="zh-CN" altLang="en-US" sz="1200">
              <a:latin typeface="Calibri" pitchFamily="0" charset="0"/>
              <a:ea typeface="等线" pitchFamily="0" charset="0"/>
              <a:cs typeface="Calibri" pitchFamily="0" charset="0"/>
            </a:endParaRPr>
          </a:p>
        </p:txBody>
      </p:sp>
      <p:sp>
        <p:nvSpPr>
          <p:cNvPr id="55"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5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452350625"/>
      </p:ext>
    </p:extLst>
  </p:cSld>
  <p:clrMapOvr>
    <a:masterClrMapping/>
  </p:clrMapOvr>
</p:notes>
</file>

<file path=ppt/notesSlides/notesSlide4.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4</a:t>
            </a:fld>
            <a:endParaRPr lang="zh-CN" altLang="en-US" sz="1200">
              <a:latin typeface="Calibri" pitchFamily="0" charset="0"/>
              <a:ea typeface="等线" pitchFamily="0" charset="0"/>
              <a:cs typeface="Calibri" pitchFamily="0" charset="0"/>
            </a:endParaRPr>
          </a:p>
        </p:txBody>
      </p:sp>
      <p:sp>
        <p:nvSpPr>
          <p:cNvPr id="66"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67"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767629173"/>
      </p:ext>
    </p:extLst>
  </p:cSld>
  <p:clrMapOvr>
    <a:masterClrMapping/>
  </p:clrMapOvr>
</p:notes>
</file>

<file path=ppt/notesSlides/notesSlide5.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5</a:t>
            </a:fld>
            <a:endParaRPr lang="zh-CN" altLang="en-US" sz="1200">
              <a:latin typeface="Calibri" pitchFamily="0" charset="0"/>
              <a:ea typeface="等线" pitchFamily="0" charset="0"/>
              <a:cs typeface="Calibri" pitchFamily="0" charset="0"/>
            </a:endParaRPr>
          </a:p>
        </p:txBody>
      </p:sp>
      <p:sp>
        <p:nvSpPr>
          <p:cNvPr id="99"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00"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920297580"/>
      </p:ext>
    </p:extLst>
  </p:cSld>
  <p:clrMapOvr>
    <a:masterClrMapping/>
  </p:clrMapOvr>
</p:notes>
</file>

<file path=ppt/notesSlides/notesSlide6.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6</a:t>
            </a:fld>
            <a:endParaRPr lang="zh-CN" altLang="en-US" sz="1200">
              <a:latin typeface="Calibri" pitchFamily="0" charset="0"/>
              <a:ea typeface="等线" pitchFamily="0" charset="0"/>
              <a:cs typeface="Calibri" pitchFamily="0" charset="0"/>
            </a:endParaRPr>
          </a:p>
        </p:txBody>
      </p:sp>
      <p:sp>
        <p:nvSpPr>
          <p:cNvPr id="119"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20"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530168677"/>
      </p:ext>
    </p:extLst>
  </p:cSld>
  <p:clrMapOvr>
    <a:masterClrMapping/>
  </p:clrMapOvr>
</p:notes>
</file>

<file path=ppt/notesSlides/notesSlide7.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7</a:t>
            </a:fld>
            <a:endParaRPr lang="zh-CN" altLang="en-US" sz="1200">
              <a:latin typeface="Calibri" pitchFamily="0" charset="0"/>
              <a:ea typeface="等线" pitchFamily="0" charset="0"/>
              <a:cs typeface="Calibri" pitchFamily="0" charset="0"/>
            </a:endParaRPr>
          </a:p>
        </p:txBody>
      </p:sp>
      <p:sp>
        <p:nvSpPr>
          <p:cNvPr id="169"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170"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57631872"/>
      </p:ext>
    </p:extLst>
  </p:cSld>
  <p:clrMapOvr>
    <a:masterClrMapping/>
  </p:clrMapOvr>
</p:notes>
</file>

<file path=ppt/notesSlides/notesSlide8.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8</a:t>
            </a:fld>
            <a:endParaRPr lang="zh-CN" altLang="en-US" sz="1200">
              <a:latin typeface="Calibri" pitchFamily="0" charset="0"/>
              <a:ea typeface="等线" pitchFamily="0" charset="0"/>
              <a:cs typeface="Calibri" pitchFamily="0" charset="0"/>
            </a:endParaRPr>
          </a:p>
        </p:txBody>
      </p:sp>
      <p:sp>
        <p:nvSpPr>
          <p:cNvPr id="215"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1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458775235"/>
      </p:ext>
    </p:extLst>
  </p:cSld>
  <p:clrMapOvr>
    <a:masterClrMapping/>
  </p:clrMapOvr>
</p:notes>
</file>

<file path=ppt/notesSlides/notesSlide9.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9</a:t>
            </a:fld>
            <a:endParaRPr lang="zh-CN" altLang="en-US" sz="1200">
              <a:latin typeface="Calibri" pitchFamily="0" charset="0"/>
              <a:ea typeface="等线" pitchFamily="0" charset="0"/>
              <a:cs typeface="Calibri" pitchFamily="0" charset="0"/>
            </a:endParaRPr>
          </a:p>
        </p:txBody>
      </p:sp>
      <p:sp>
        <p:nvSpPr>
          <p:cNvPr id="252"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53"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1116111775"/>
      </p:ext>
    </p:extLst>
  </p:cSld>
  <p:clrMapOvr>
    <a:masterClrMapping/>
  </p:clrMapOvr>
</p:notes>
</file>

<file path=ppt/notesSlides/notesSlide10.xml><?xml version="1.0" encoding="utf-8"?>
<p:notes xmlns:p="http://schemas.openxmlformats.org/presentationml/2006/main" xmlns:r="http://schemas.openxmlformats.org/officeDocument/2006/relationships" xmlns:a="http://schemas.openxmlformats.org/drawingml/2006/main">
  <p:cSld>
    <p:bg>
      <p:bgPr>
        <a:solidFill>
          <a:schemeClr val="bg1"/>
        </a:solidFill>
      </p:bgPr>
    </p:bg>
    <p:spTree>
      <p:nvGrpSpPr>
        <p:cNvPr id="1" name=""/>
        <p:cNvGrpSpPr/>
        <p:nvPr/>
      </p:nvGrpSpPr>
      <p:grpSpPr>
        <a:xfrm>
          <a:off x="0" y="0"/>
          <a:ext cx="0" cy="0"/>
          <a:chOff x="0" y="0"/>
          <a:chExt cx="0" cy="0"/>
        </a:xfrm>
      </p:grpSpPr>
      <p:sp>
        <p:nvSpPr>
          <p:cNvPr id="7" name="文本框"/>
          <p:cNvSpPr>
            <a:spLocks noGrp="1"/>
          </p:cNvSpPr>
          <p:nvPr>
            <p:ph type="sldNum" idx="5"/>
          </p:nvPr>
        </p:nvSpPr>
        <p:spPr>
          <a:xfrm rot="0">
            <a:off x="3884613" y="8685213"/>
            <a:ext cx="2971800" cy="458787"/>
          </a:xfrm>
          <a:prstGeom prst="rect"/>
          <a:noFill/>
          <a:ln w="12700" cmpd="sng" cap="flat">
            <a:noFill/>
            <a:prstDash val="solid"/>
            <a:miter/>
          </a:ln>
        </p:spPr>
        <p:txBody>
          <a:bodyPr vert="horz" wrap="square" lIns="91440" tIns="45720" rIns="91440" bIns="45720" anchor="b" anchorCtr="0">
            <a:prstTxWarp prst="textNoShape"/>
          </a:bodyPr>
          <a:lstStyle/>
          <a:p>
            <a:pPr algn="r"/>
            <a:fld id="{CAD2D6BD-DE1B-4B5F-8B41-2702339687B9}" type="slidenum">
              <a:rPr lang="en-US" altLang="zh-CN" sz="1200" b="0" i="0" u="none" strike="noStrike" kern="1200" cap="none" spc="0" baseline="0">
                <a:solidFill>
                  <a:schemeClr val="tx1"/>
                </a:solidFill>
                <a:latin typeface="Calibri" pitchFamily="0" charset="0"/>
                <a:ea typeface="等线" pitchFamily="0" charset="0"/>
                <a:cs typeface="Calibri" pitchFamily="0" charset="0"/>
              </a:rPr>
              <a:t>10</a:t>
            </a:fld>
            <a:endParaRPr lang="zh-CN" altLang="en-US" sz="1200">
              <a:latin typeface="Calibri" pitchFamily="0" charset="0"/>
              <a:ea typeface="等线" pitchFamily="0" charset="0"/>
              <a:cs typeface="Calibri" pitchFamily="0" charset="0"/>
            </a:endParaRPr>
          </a:p>
        </p:txBody>
      </p:sp>
      <p:sp>
        <p:nvSpPr>
          <p:cNvPr id="295" name="对象"/>
          <p:cNvSpPr>
            <a:spLocks noGrp="1" noChangeAspect="1"/>
          </p:cNvSpPr>
          <p:nvPr>
            <p:ph type="sldImg"/>
          </p:nvPr>
        </p:nvSpPr>
        <p:spPr>
          <a:xfrm rot="0">
            <a:off x="685800" y="1143000"/>
            <a:ext cx="5486400" cy="3086100"/>
          </a:xfrm>
          <a:prstGeom prst="rect"/>
          <a:noFill/>
          <a:ln w="12700" cmpd="sng" cap="flat">
            <a:noFill/>
            <a:prstDash val="solid"/>
            <a:miter/>
          </a:ln>
        </p:spPr>
      </p:sp>
      <p:sp>
        <p:nvSpPr>
          <p:cNvPr id="296" name="文本框"/>
          <p:cNvSpPr>
            <a:spLocks noGrp="1"/>
          </p:cNvSpPr>
          <p:nvPr>
            <p:ph type="body" idx="1"/>
          </p:nvPr>
        </p:nvSpPr>
        <p:spPr>
          <a:xfrm rot="0">
            <a:off x="685800" y="4400550"/>
            <a:ext cx="5486400" cy="3600450"/>
          </a:xfrm>
          <a:prstGeom prst="rect"/>
          <a:noFill/>
          <a:ln w="12700" cmpd="sng" cap="flat">
            <a:noFill/>
            <a:prstDash val="solid"/>
            <a:miter/>
          </a:ln>
        </p:spPr>
        <p:txBody>
          <a:bodyPr vert="horz" wrap="square" lIns="91440" tIns="45720" rIns="91440" bIns="45720" anchor="t" anchorCtr="0">
            <a:prstTxWarp prst="textNoShape"/>
          </a:bodyPr>
          <a:lstStyle/>
          <a:p>
            <a:endParaRPr lang="zh-CN" altLang="en-US"/>
          </a:p>
        </p:txBody>
      </p:sp>
    </p:spTree>
    <p:extLst>
      <p:ext uri="{BB962C8B-B14F-4D97-AF65-F5344CB8AC3E}">
        <p14:creationId xmlns:p14="http://schemas.microsoft.com/office/powerpoint/2010/main" val="961591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1.png"/></Relationships>
</file>

<file path=ppt/slideLayouts/slideLayout1.xml><?xml version="1.0" encoding="utf-8"?>
<p:sldLayout xmlns:p="http://schemas.openxmlformats.org/presentationml/2006/main" xmlns:a="http://schemas.openxmlformats.org/drawingml/2006/main" xmlns:r="http://schemas.openxmlformats.org/officeDocument/2006/relationships"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1597818"/>
            <a:ext cx="7772400" cy="1102518"/>
          </a:xfrm>
        </p:spPr>
        <p:txBody>
          <a:bodyPr/>
          <a:lstStyle/>
          <a:p>
            <a:r>
              <a:rPr lang="zh-CN" altLang="en-US" smtClean="0"/>
              <a:t>单击此处编辑母版标题样式</a:t>
            </a:r>
            <a:endParaRPr lang="zh-CN" altLang="en-US"/>
          </a:p>
        </p:txBody>
      </p:sp>
      <p:sp>
        <p:nvSpPr>
          <p:cNvPr id="3" name="文本框"/>
          <p:cNvSpPr>
            <a:spLocks noGrp="1"/>
          </p:cNvSpPr>
          <p:nvPr>
            <p:ph type="subTitle" idx="1"/>
          </p:nvPr>
        </p:nvSpPr>
        <p:spPr>
          <a:xfrm>
            <a:off x="1371600" y="2914649"/>
            <a:ext cx="6400800" cy="131444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extLst>
      <p:ext uri="{BB962C8B-B14F-4D97-AF65-F5344CB8AC3E}">
        <p14:creationId xmlns:p14="http://schemas.microsoft.com/office/powerpoint/2010/main" val="984845782"/>
      </p:ext>
    </p:extLst>
  </p:cSld>
  <p:clrMapOvr>
    <a:masterClrMapping/>
  </p:clrMapOvr>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439570837"/>
      </p:ext>
    </p:extLst>
  </p:cSld>
  <p:clrMapOvr>
    <a:masterClrMapping xmlns:a="http://schemas.openxmlformats.org/drawingml/2006/main"/>
  </p:clrMapOvr>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defRPr sz="4000" b="1" cap="all"/>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1231023635"/>
      </p:ext>
    </p:extLst>
  </p:cSld>
  <p:clrMapOvr>
    <a:masterClrMapping xmlns:a="http://schemas.openxmlformats.org/drawingml/2006/main"/>
  </p:clrMapOvr>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sz="half"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sz="half"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338813299"/>
      </p:ext>
    </p:extLst>
  </p:cSld>
  <p:clrMapOvr>
    <a:masterClrMapping xmlns:a="http://schemas.openxmlformats.org/drawingml/2006/main"/>
  </p:clrMapOvr>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lvl1pPr>
              <a:defRPr/>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4" name="文本框"/>
          <p:cNvSpPr>
            <a:spLocks xmlns:a="http://schemas.openxmlformats.org/drawingml/2006/main" noGrp="1"/>
          </p:cNvSpPr>
          <p:nvPr>
            <p:ph sz="half"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5" name="文本框"/>
          <p:cNvSpPr>
            <a:spLocks xmlns:a="http://schemas.openxmlformats.org/drawingml/2006/main" noGrp="1"/>
          </p:cNvSpPr>
          <p:nvPr>
            <p:ph type="body" sz="quarter"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r>
              <a:rPr lang="zh-CN" altLang="en-US" smtClean="0"/>
              <a:t>单击此处编辑母版文本样式</a:t>
            </a:r>
          </a:p>
        </p:txBody>
      </p:sp>
      <p:sp>
        <p:nvSpPr>
          <p:cNvPr id="6" name="文本框"/>
          <p:cNvSpPr>
            <a:spLocks xmlns:a="http://schemas.openxmlformats.org/drawingml/2006/main" noGrp="1"/>
          </p:cNvSpPr>
          <p:nvPr>
            <p:ph sz="quarter"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352469148"/>
      </p:ext>
    </p:extLst>
  </p:cSld>
  <p:clrMapOvr>
    <a:masterClrMapping xmlns:a="http://schemas.openxmlformats.org/drawingml/2006/main"/>
  </p:clrMapOvr>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Tree>
    <p:extLst>
      <p:ext uri="{BB962C8B-B14F-4D97-AF65-F5344CB8AC3E}">
        <p14:creationId xmlns:p14="http://schemas.microsoft.com/office/powerpoint/2010/main" val="986053191"/>
      </p:ext>
    </p:extLst>
  </p:cSld>
  <p:clrMapOvr>
    <a:masterClrMapping xmlns:a="http://schemas.openxmlformats.org/drawingml/2006/main"/>
  </p:clrMapOvr>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a:off x="0" y="0"/>
          <a:ext cx="0" cy="0"/>
          <a:chOff x="0" y="0"/>
          <a:chExt cx="0" cy="0"/>
        </a:xfrm>
      </p:grpSpPr>
    </p:spTree>
    <p:extLst>
      <p:ext uri="{BB962C8B-B14F-4D97-AF65-F5344CB8AC3E}">
        <p14:creationId xmlns:p14="http://schemas.microsoft.com/office/powerpoint/2010/main" val="1275466244"/>
      </p:ext>
    </p:extLst>
  </p:cSld>
  <p:clrMapOvr>
    <a:masterClrMapping xmlns:a="http://schemas.openxmlformats.org/drawingml/2006/main"/>
  </p:clrMapOvr>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1175227202"/>
      </p:ext>
    </p:extLst>
  </p:cSld>
  <p:clrMapOvr>
    <a:masterClrMapping xmlns:a="http://schemas.openxmlformats.org/drawingml/2006/main"/>
  </p:clrMapOvr>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defRPr sz="2000" b="1"/>
            </a:lvl1pPr>
          </a:lstStyle>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lang="zh-CN" altLang="en-US"/>
          </a:p>
        </p:txBody>
      </p:sp>
      <p:sp>
        <p:nvSpPr>
          <p:cNvPr id="4" name="文本框"/>
          <p:cNvSpPr>
            <a:spLocks xmlns:a="http://schemas.openxmlformats.org/drawingml/2006/main" noGrp="1"/>
          </p:cNvSpPr>
          <p:nvPr>
            <p:ph type="body" sz="half"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r>
              <a:rPr lang="zh-CN" altLang="en-US" smtClean="0"/>
              <a:t>单击此处编辑母版文本样式</a:t>
            </a:r>
          </a:p>
        </p:txBody>
      </p:sp>
    </p:spTree>
    <p:extLst>
      <p:ext uri="{BB962C8B-B14F-4D97-AF65-F5344CB8AC3E}">
        <p14:creationId xmlns:p14="http://schemas.microsoft.com/office/powerpoint/2010/main" val="2017944517"/>
      </p:ext>
    </p:extLst>
  </p:cSld>
  <p:clrMapOvr>
    <a:masterClrMapping xmlns:a="http://schemas.openxmlformats.org/drawingml/2006/main"/>
  </p:clrMapOvr>
</p:sldLayout>
</file>

<file path=ppt/slideLayouts/slideLayout10.xml><?xml version="1.0" encoding="utf-8"?>
<p:sldLayout xmlns:p="http://schemas.openxmlformats.org/presentationml/2006/main" type="vertTx" preserve="1">
  <p:cSld name="标题和竖排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1747536962"/>
      </p:ext>
    </p:extLst>
  </p:cSld>
  <p:clrMapOvr>
    <a:masterClrMapping xmlns:a="http://schemas.openxmlformats.org/drawingml/2006/main"/>
  </p:clrMapOvr>
</p:sldLayout>
</file>

<file path=ppt/slideLayouts/slideLayout11.xml><?xml version="1.0" encoding="utf-8"?>
<p:sldLayout xmlns:p="http://schemas.openxmlformats.org/presentationml/2006/main" type="vertTitleAndTx" preserve="1">
  <p:cSld name="垂直排列标题与文本">
    <p:spTree>
      <p:nvGrpSpPr>
        <p:cNvPr id="1" name=""/>
        <p:cNvGrpSpPr/>
        <p:nvPr/>
      </p:nvGrpSpPr>
      <p:grpSpPr>
        <a:xfrm xmlns:a="http://schemas.openxmlformats.org/drawingml/2006/main">
          <a:off x="0" y="0"/>
          <a:ext cx="0" cy="0"/>
          <a:chOff x="0" y="0"/>
          <a:chExt cx="0" cy="0"/>
        </a:xfrm>
      </p:grpSpPr>
      <p:sp>
        <p:nvSpPr>
          <p:cNvPr id="2" name="文本框"/>
          <p:cNvSpPr>
            <a:spLocks xmlns:a="http://schemas.openxmlformats.org/drawingml/2006/main" noGrp="1"/>
          </p:cNvSpPr>
          <p:nvPr>
            <p:ph type="title" orient="vert"/>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rPr lang="zh-CN" altLang="en-US" smtClean="0"/>
              <a:t>单击此处编辑母版标题样式</a:t>
            </a:r>
            <a:endParaRPr lang="zh-CN" altLang="en-US"/>
          </a:p>
        </p:txBody>
      </p:sp>
      <p:sp>
        <p:nvSpPr>
          <p:cNvPr id="3" name="文本框"/>
          <p:cNvSpPr>
            <a:spLocks xmlns:a="http://schemas.openxmlformats.org/drawingml/2006/main" noGrp="1"/>
          </p:cNvSpPr>
          <p:nvPr>
            <p:ph type="body" orient="vert"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r>
              <a:rPr lang="zh-CN" altLang="en-US" smtClean="0"/>
              <a:t>单击此处编辑母版文本样式</a:t>
            </a:r>
          </a:p>
          <a:p xmlns:a="http://schemas.openxmlformats.org/drawingml/2006/main">
            <a:pPr lvl="1"/>
            <a:r>
              <a:rPr lang="zh-CN" altLang="en-US" smtClean="0"/>
              <a:t>第二级</a:t>
            </a:r>
          </a:p>
          <a:p xmlns:a="http://schemas.openxmlformats.org/drawingml/2006/main">
            <a:pPr lvl="2"/>
            <a:r>
              <a:rPr lang="zh-CN" altLang="en-US" smtClean="0"/>
              <a:t>第三级</a:t>
            </a:r>
          </a:p>
          <a:p xmlns:a="http://schemas.openxmlformats.org/drawingml/2006/main">
            <a:pPr lvl="3"/>
            <a:r>
              <a:rPr lang="zh-CN" altLang="en-US" smtClean="0"/>
              <a:t>第四级</a:t>
            </a:r>
          </a:p>
          <a:p xmlns:a="http://schemas.openxmlformats.org/drawingml/2006/main">
            <a:pPr lvl="4"/>
            <a:r>
              <a:rPr lang="zh-CN" altLang="en-US" smtClean="0"/>
              <a:t>第五级</a:t>
            </a:r>
            <a:endParaRPr lang="zh-CN" altLang="en-US"/>
          </a:p>
        </p:txBody>
      </p:sp>
    </p:spTree>
    <p:extLst>
      <p:ext uri="{BB962C8B-B14F-4D97-AF65-F5344CB8AC3E}">
        <p14:creationId xmlns:p14="http://schemas.microsoft.com/office/powerpoint/2010/main" val="1913425126"/>
      </p:ext>
    </p:extLst>
  </p:cSld>
  <p:clrMapOvr>
    <a:masterClrMapping xmlns:a="http://schemas.openxmlformats.org/drawingml/2006/main"/>
  </p:clrMapOvr>
</p:sldLayout>
</file>

<file path=ppt/slideLayouts/slideLayout12.xml><?xml version="1.0" encoding="utf-8"?>
<p:sldLayout xmlns:p="http://schemas.openxmlformats.org/presentationml/2006/main" showMasterSp="0" preserve="1">
  <p:cSld name="自定义版式">
    <p:spTree>
      <p:nvGrpSpPr>
        <p:cNvPr id="1" name=""/>
        <p:cNvGrpSpPr/>
        <p:nvPr/>
      </p:nvGrpSpPr>
      <p:grpSpPr>
        <a:xfrm xmlns:a="http://schemas.openxmlformats.org/drawingml/2006/main">
          <a:off x="0" y="0"/>
          <a:ext cx="0" cy="0"/>
          <a:chOff x="0" y="0"/>
          <a:chExt cx="0" cy="0"/>
        </a:xfrm>
      </p:grpSpPr>
      <p:sp>
        <p:nvSpPr>
          <p:cNvPr id="8" name="矩形"/>
          <p:cNvSpPr>
            <a:spLocks xmlns:a="http://schemas.openxmlformats.org/drawingml/2006/main"/>
          </p:cNvSpPr>
          <p:nvPr/>
        </p:nvSpPr>
        <p:spPr>
          <a:xfrm xmlns:a="http://schemas.openxmlformats.org/drawingml/2006/main" rot="0">
            <a:off x="0" y="0"/>
            <a:ext cx="9144000" cy="5143500"/>
          </a:xfrm>
          <a:prstGeom xmlns:a="http://schemas.openxmlformats.org/drawingml/2006/main" prst="rect"/>
          <a:solidFill xmlns:a="http://schemas.openxmlformats.org/drawingml/2006/main">
            <a:srgbClr val="EFEFEF"/>
          </a:solidFill>
          <a:ln xmlns:a="http://schemas.openxmlformats.org/drawingml/2006/main" w="12700" cmpd="sng" cap="flat">
            <a:noFill/>
            <a:prstDash val="solid"/>
            <a:miter/>
          </a:ln>
        </p:spPr>
      </p:sp>
      <p:sp>
        <p:nvSpPr>
          <p:cNvPr id="9" name="矩形"/>
          <p:cNvSpPr>
            <a:spLocks xmlns:a="http://schemas.openxmlformats.org/drawingml/2006/main"/>
          </p:cNvSpPr>
          <p:nvPr/>
        </p:nvSpPr>
        <p:spPr>
          <a:xfrm xmlns:a="http://schemas.openxmlformats.org/drawingml/2006/main" rot="0">
            <a:off x="0" y="0"/>
            <a:ext cx="9144000" cy="5143500"/>
          </a:xfrm>
          <a:prstGeom xmlns:a="http://schemas.openxmlformats.org/drawingml/2006/main" prst="rect"/>
          <a:solidFill xmlns:a="http://schemas.openxmlformats.org/drawingml/2006/main">
            <a:srgbClr val="FCFCFC"/>
          </a:solidFill>
          <a:ln xmlns:a="http://schemas.openxmlformats.org/drawingml/2006/main" w="12700" cmpd="sng" cap="flat">
            <a:noFill/>
            <a:prstDash val="solid"/>
            <a:miter/>
          </a:ln>
        </p:spPr>
      </p:sp>
      <p:pic>
        <p:nvPicPr>
          <p:cNvPr id="10" name="图片" descr="preencoded.png">
            <a:hlinkClick xmlns:a="http://schemas.openxmlformats.org/drawingml/2006/main" xmlns:r="http://schemas.openxmlformats.org/officeDocument/2006/relationships" r:id="rId2"/>
          </p:cNvPr>
          <p:cNvPicPr>
            <a:picLocks xmlns:a="http://schemas.openxmlformats.org/drawingml/2006/main" noChangeAspect="1"/>
          </p:cNvPicPr>
          <p:nvPr/>
        </p:nvPicPr>
        <p:blipFill>
          <a:blip xmlns:a="http://schemas.openxmlformats.org/drawingml/2006/main" xmlns:r="http://schemas.openxmlformats.org/officeDocument/2006/relationships" r:embed="rId3" cstate="print"/>
          <a:stretch xmlns:a="http://schemas.openxmlformats.org/drawingml/2006/main">
            <a:fillRect/>
          </a:stretch>
        </p:blipFill>
        <p:spPr>
          <a:xfrm xmlns:a="http://schemas.openxmlformats.org/drawingml/2006/main" rot="0">
            <a:off x="8029179" y="4844491"/>
            <a:ext cx="1071842" cy="256032"/>
          </a:xfrm>
          <a:prstGeom xmlns:a="http://schemas.openxmlformats.org/drawingml/2006/main" prst="rect"/>
          <a:noFill xmlns:a="http://schemas.openxmlformats.org/drawingml/2006/main"/>
          <a:ln xmlns:a="http://schemas.openxmlformats.org/drawingml/2006/main" w="12700" cmpd="sng" cap="flat">
            <a:noFill/>
            <a:prstDash val="solid"/>
            <a:miter/>
          </a:ln>
        </p:spPr>
      </p:pic>
    </p:spTree>
    <p:extLst>
      <p:ext uri="{BB962C8B-B14F-4D97-AF65-F5344CB8AC3E}">
        <p14:creationId xmlns:p14="http://schemas.microsoft.com/office/powerpoint/2010/main" val="623894348"/>
      </p:ext>
    </p:extLst>
  </p:cSld>
  <p:clrMapOvr>
    <a:masterClrMapping xmlns:a="http://schemas.openxmlformats.org/drawingml/2006/main"/>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90325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1" fontAlgn="auto" latinLnBrk="0" hangingPunct="1">
        <a:spcBef>
          <a:spcPts val="0"/>
        </a:spcBef>
        <a:buNone/>
        <a:defRPr sz="4400" kern="1200">
          <a:solidFill>
            <a:schemeClr val="tx1"/>
          </a:solidFill>
          <a:latin typeface="Calibri Light" pitchFamily="0" charset="0"/>
          <a:ea typeface="等线 Light" pitchFamily="0" charset="0"/>
          <a:cs typeface="Calibri Light" pitchFamily="0"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pitchFamily="0" charset="0"/>
          <a:ea typeface="等线" pitchFamily="0" charset="0"/>
          <a:cs typeface="Calibri" pitchFamily="0"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pitchFamily="0" charset="0"/>
          <a:ea typeface="等线" pitchFamily="0" charset="0"/>
          <a:cs typeface="Calibri" pitchFamily="0"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pitchFamily="0" charset="0"/>
          <a:ea typeface="等线" pitchFamily="0" charset="0"/>
          <a:cs typeface="Calibri" pitchFamily="0"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pitchFamily="0" charset="0"/>
          <a:ea typeface="等线" pitchFamily="0" charset="0"/>
          <a:cs typeface="Calibri" pitchFamily="0" charset="0"/>
        </a:defRPr>
      </a:lvl9pPr>
    </p:body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2.png"/><Relationship Id="rId2" Type="http://schemas.openxmlformats.org/officeDocument/2006/relationships/slideLayout" Target="../slideLayouts/slideLayout1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3.jpeg"/><Relationship Id="rId2" Type="http://schemas.openxmlformats.org/officeDocument/2006/relationships/image" Target="../media/4.png"/><Relationship Id="rId3" Type="http://schemas.openxmlformats.org/officeDocument/2006/relationships/slideLayout" Target="../slideLayouts/slideLayout1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5.jpeg"/><Relationship Id="rId2" Type="http://schemas.openxmlformats.org/officeDocument/2006/relationships/image" Target="../media/4.png"/><Relationship Id="rId3" Type="http://schemas.openxmlformats.org/officeDocument/2006/relationships/slideLayout" Target="../slideLayouts/slideLayout1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6.png"/><Relationship Id="rId2" Type="http://schemas.openxmlformats.org/officeDocument/2006/relationships/image" Target="../media/7.png"/><Relationship Id="rId3" Type="http://schemas.openxmlformats.org/officeDocument/2006/relationships/image" Target="../media/8.png"/><Relationship Id="rId4" Type="http://schemas.openxmlformats.org/officeDocument/2006/relationships/image" Target="../media/9.png"/><Relationship Id="rId5" Type="http://schemas.openxmlformats.org/officeDocument/2006/relationships/image" Target="../media/10.png"/><Relationship Id="rId6" Type="http://schemas.openxmlformats.org/officeDocument/2006/relationships/image" Target="../media/11.png"/><Relationship Id="rId7" Type="http://schemas.openxmlformats.org/officeDocument/2006/relationships/image" Target="../media/12.png"/><Relationship Id="rId8" Type="http://schemas.openxmlformats.org/officeDocument/2006/relationships/image" Target="../media/13.png"/><Relationship Id="rId9" Type="http://schemas.openxmlformats.org/officeDocument/2006/relationships/image" Target="../media/14.png"/><Relationship Id="rId10" Type="http://schemas.openxmlformats.org/officeDocument/2006/relationships/slideLayout" Target="../slideLayouts/slideLayout1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15.png"/><Relationship Id="rId2" Type="http://schemas.openxmlformats.org/officeDocument/2006/relationships/slideLayout" Target="../slideLayouts/slideLayout1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16.png"/><Relationship Id="rId2" Type="http://schemas.openxmlformats.org/officeDocument/2006/relationships/slideLayout" Target="../slideLayouts/slideLayout1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17.png"/><Relationship Id="rId2" Type="http://schemas.openxmlformats.org/officeDocument/2006/relationships/image" Target="../media/18.png"/><Relationship Id="rId3" Type="http://schemas.openxmlformats.org/officeDocument/2006/relationships/image" Target="../media/19.png"/><Relationship Id="rId4" Type="http://schemas.openxmlformats.org/officeDocument/2006/relationships/image" Target="../media/20.png"/><Relationship Id="rId5" Type="http://schemas.openxmlformats.org/officeDocument/2006/relationships/image" Target="../media/21.png"/><Relationship Id="rId6" Type="http://schemas.openxmlformats.org/officeDocument/2006/relationships/image" Target="../media/22.png"/><Relationship Id="rId7" Type="http://schemas.openxmlformats.org/officeDocument/2006/relationships/image" Target="../media/19.png"/><Relationship Id="rId8" Type="http://schemas.openxmlformats.org/officeDocument/2006/relationships/image" Target="../media/20.png"/><Relationship Id="rId9" Type="http://schemas.openxmlformats.org/officeDocument/2006/relationships/image" Target="../media/17.png"/><Relationship Id="rId10" Type="http://schemas.openxmlformats.org/officeDocument/2006/relationships/image" Target="../media/18.png"/><Relationship Id="rId11" Type="http://schemas.openxmlformats.org/officeDocument/2006/relationships/image" Target="../media/23.png"/><Relationship Id="rId12" Type="http://schemas.openxmlformats.org/officeDocument/2006/relationships/image" Target="../media/24.png"/><Relationship Id="rId13" Type="http://schemas.openxmlformats.org/officeDocument/2006/relationships/slideLayout" Target="../slideLayouts/slideLayout1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14.png"/><Relationship Id="rId2" Type="http://schemas.openxmlformats.org/officeDocument/2006/relationships/slideLayout" Target="../slideLayouts/slideLayout1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25.png"/><Relationship Id="rId2" Type="http://schemas.openxmlformats.org/officeDocument/2006/relationships/slideLayout" Target="../slideLayouts/slideLayout12.xml"/><Relationship Id="rId3" Type="http://schemas.openxmlformats.org/officeDocument/2006/relationships/notesSlide" Target="../notesSlides/notesSlide10.xml"/></Relationships>
</file>

<file path=ppt/slides/slide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1" name="圆角矩形"/>
          <p:cNvSpPr>
            <a:spLocks/>
          </p:cNvSpPr>
          <p:nvPr/>
        </p:nvSpPr>
        <p:spPr>
          <a:xfrm rot="0">
            <a:off x="496119" y="631999"/>
            <a:ext cx="1487760" cy="233214"/>
          </a:xfrm>
          <a:prstGeom prst="roundRect">
            <a:avLst>
              <a:gd name="adj" fmla="val 6384"/>
            </a:avLst>
          </a:prstGeom>
          <a:solidFill>
            <a:srgbClr val="E6E6E5"/>
          </a:solidFill>
          <a:ln w="12700" cmpd="sng" cap="flat">
            <a:noFill/>
            <a:prstDash val="solid"/>
            <a:miter/>
          </a:ln>
        </p:spPr>
      </p:sp>
      <p:sp>
        <p:nvSpPr>
          <p:cNvPr id="12" name="矩形"/>
          <p:cNvSpPr>
            <a:spLocks/>
          </p:cNvSpPr>
          <p:nvPr/>
        </p:nvSpPr>
        <p:spPr>
          <a:xfrm rot="0">
            <a:off x="570533" y="669206"/>
            <a:ext cx="1796132" cy="158800"/>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750" b="0" i="0" u="none" strike="noStrike" kern="1200" cap="none" spc="0" baseline="0">
                <a:solidFill>
                  <a:schemeClr val="tx1"/>
                </a:solidFill>
                <a:latin typeface="Calibri" pitchFamily="0" charset="0"/>
                <a:ea typeface="等线" pitchFamily="0" charset="0"/>
                <a:cs typeface="Calibri" pitchFamily="0" charset="0"/>
              </a:rPr>
              <a:t>Recruitment System Chat Bot</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 name="矩形"/>
          <p:cNvSpPr>
            <a:spLocks/>
          </p:cNvSpPr>
          <p:nvPr/>
        </p:nvSpPr>
        <p:spPr>
          <a:xfrm rot="0">
            <a:off x="496119" y="914772"/>
            <a:ext cx="3558332" cy="3875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2400" b="0" i="0" u="none" strike="noStrike" kern="1200" cap="none" spc="0" baseline="0">
                <a:solidFill>
                  <a:srgbClr val="1D1D1B"/>
                </a:solidFill>
                <a:latin typeface="Tomorrow SemiBold" pitchFamily="34" charset="0"/>
                <a:ea typeface="Tomorrow SemiBold" pitchFamily="34" charset="0"/>
                <a:cs typeface="Tomorrow SemiBold" pitchFamily="34" charset="0"/>
              </a:rPr>
              <a:t>RecruitFlow AI</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 name="矩形"/>
          <p:cNvSpPr>
            <a:spLocks/>
          </p:cNvSpPr>
          <p:nvPr/>
        </p:nvSpPr>
        <p:spPr>
          <a:xfrm rot="0">
            <a:off x="496119" y="1488356"/>
            <a:ext cx="8151763" cy="1069776"/>
          </a:xfrm>
          <a:prstGeom prst="rect"/>
          <a:noFill/>
          <a:ln w="12700" cmpd="sng" cap="flat">
            <a:noFill/>
            <a:prstDash val="solid"/>
            <a:miter/>
          </a:ln>
        </p:spPr>
        <p:txBody>
          <a:bodyPr vert="horz" wrap="square" lIns="0" tIns="0" rIns="0" bIns="0" anchor="t" anchorCtr="0">
            <a:prstTxWarp prst="textNoShape"/>
          </a:bodyPr>
          <a:lstStyle/>
          <a:p>
            <a:pPr marL="0" indent="0" algn="l">
              <a:lnSpc>
                <a:spcPct val="104000"/>
              </a:lnSpc>
              <a:spcBef>
                <a:spcPts val="0"/>
              </a:spcBef>
              <a:spcAft>
                <a:spcPts val="0"/>
              </a:spcAft>
              <a:buNone/>
            </a:pPr>
            <a:r>
              <a:rPr lang="en-US" altLang="zh-CN" sz="3350" b="0" i="0" u="none" strike="noStrike" kern="1200" cap="none" spc="0" baseline="0">
                <a:solidFill>
                  <a:srgbClr val="1D1D1B"/>
                </a:solidFill>
                <a:latin typeface="Tomorrow SemiBold" pitchFamily="34" charset="0"/>
                <a:ea typeface="Tomorrow SemiBold" pitchFamily="34" charset="0"/>
                <a:cs typeface="Tomorrow SemiBold" pitchFamily="34" charset="0"/>
              </a:rPr>
              <a:t>AI-Powered Multi-Agent Recruitment Assistant</a:t>
            </a:r>
            <a:endParaRPr lang="zh-CN" altLang="en-US" sz="3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 name="矩形"/>
          <p:cNvSpPr>
            <a:spLocks/>
          </p:cNvSpPr>
          <p:nvPr/>
        </p:nvSpPr>
        <p:spPr>
          <a:xfrm rot="7340">
            <a:off x="467544" y="2706067"/>
            <a:ext cx="8151763" cy="933375"/>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61615C"/>
                </a:solidFill>
                <a:latin typeface="Tomorrow" pitchFamily="34" charset="0"/>
                <a:ea typeface="Tomorrow" pitchFamily="34" charset="0"/>
                <a:cs typeface="Tomorrow" pitchFamily="34" charset="0"/>
              </a:rPr>
              <a:t>Built with </a:t>
            </a:r>
            <a:r>
              <a:rPr lang="en-US" altLang="zh-CN" sz="950" b="1" i="0" u="none" strike="noStrike" kern="1200" cap="none" spc="0" baseline="0">
                <a:solidFill>
                  <a:srgbClr val="61615C"/>
                </a:solidFill>
                <a:latin typeface="Tomorrow Bold" pitchFamily="34" charset="0"/>
                <a:ea typeface="Tomorrow Bold" pitchFamily="34" charset="0"/>
                <a:cs typeface="Tomorrow Bold" pitchFamily="34" charset="0"/>
              </a:rPr>
              <a:t>LangGraph</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 · Intelligent. Automated. Scalable.</a:t>
            </a:r>
            <a:endParaRPr lang="en-US" altLang="zh-CN" sz="9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33000"/>
              </a:lnSpc>
              <a:spcBef>
                <a:spcPts val="0"/>
              </a:spcBef>
              <a:spcAft>
                <a:spcPts val="0"/>
              </a:spcAft>
              <a:buNone/>
            </a:pPr>
            <a:r>
              <a:rPr lang="en-US" altLang="zh-CN" sz="950" b="0" i="0" u="none" strike="noStrike" kern="1200" cap="none" spc="0" baseline="0">
                <a:solidFill>
                  <a:srgbClr val="61615C"/>
                </a:solidFill>
                <a:latin typeface="Tomorrow" pitchFamily="34" charset="0"/>
                <a:ea typeface="Tomorrow" pitchFamily="34" charset="0"/>
                <a:cs typeface="Tomorrow" pitchFamily="34" charset="0"/>
              </a:rPr>
              <a:t>Team: </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Amathul Lubna</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 · </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Anirudh Upadhyay </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Devineni Adhyumna Chowdhary </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 · </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Mamidipally hansika</a:t>
            </a:r>
            <a:endParaRPr lang="en-US" altLang="zh-CN" sz="9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33000"/>
              </a:lnSpc>
              <a:spcBef>
                <a:spcPts val="0"/>
              </a:spcBef>
              <a:spcAft>
                <a:spcPts val="0"/>
              </a:spcAft>
              <a:buNone/>
            </a:pPr>
            <a:r>
              <a:rPr lang="en-US" altLang="zh-CN" sz="950" b="0" i="0" u="none" strike="noStrike" kern="1200" cap="none" spc="0" baseline="0">
                <a:solidFill>
                  <a:schemeClr val="tx1"/>
                </a:solidFill>
                <a:latin typeface="Calibri" pitchFamily="0" charset="0"/>
                <a:ea typeface="等线" pitchFamily="0" charset="0"/>
                <a:cs typeface="Calibri" pitchFamily="0" charset="0"/>
              </a:rPr>
              <a:t>Team Name: Code Winners</a:t>
            </a:r>
            <a:endParaRPr lang="en-US" altLang="zh-CN" sz="950" b="0" i="0" u="none" strike="noStrike" kern="1200" cap="none" spc="0" baseline="0">
              <a:solidFill>
                <a:schemeClr val="tx1"/>
              </a:solidFill>
              <a:latin typeface="Calibri" pitchFamily="0" charset="0"/>
              <a:ea typeface="等线" pitchFamily="0" charset="0"/>
              <a:cs typeface="Calibri" pitchFamily="0" charset="0"/>
            </a:endParaRPr>
          </a:p>
          <a:p>
            <a:pPr marL="0" indent="0" algn="l">
              <a:lnSpc>
                <a:spcPct val="133000"/>
              </a:lnSpc>
              <a:spcBef>
                <a:spcPts val="0"/>
              </a:spcBef>
              <a:spcAft>
                <a:spcPts val="0"/>
              </a:spcAft>
              <a:buNone/>
            </a:pPr>
            <a:r>
              <a:rPr lang="en-US" altLang="zh-CN" sz="950" b="0" i="0" u="none" strike="noStrike" kern="1200" cap="none" spc="0" baseline="0">
                <a:solidFill>
                  <a:srgbClr val="61615C"/>
                </a:solidFill>
                <a:latin typeface="Tomorrow" pitchFamily="34" charset="0"/>
                <a:ea typeface="Tomorrow" pitchFamily="34" charset="0"/>
                <a:cs typeface="Tomorrow" pitchFamily="34" charset="0"/>
              </a:rPr>
              <a:t>College: </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Vardhaman College of Engineering </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16" name="圆角矩形"/>
          <p:cNvSpPr>
            <a:spLocks/>
          </p:cNvSpPr>
          <p:nvPr/>
        </p:nvSpPr>
        <p:spPr>
          <a:xfrm rot="0">
            <a:off x="496119" y="3817069"/>
            <a:ext cx="8151763" cy="694431"/>
          </a:xfrm>
          <a:prstGeom prst="roundRect">
            <a:avLst>
              <a:gd name="adj" fmla="val 2680"/>
            </a:avLst>
          </a:prstGeom>
          <a:solidFill>
            <a:srgbClr val="E6E6E5"/>
          </a:solidFill>
          <a:ln w="12700" cmpd="sng" cap="flat">
            <a:noFill/>
            <a:prstDash val="solid"/>
            <a:miter/>
          </a:ln>
        </p:spPr>
      </p:sp>
      <p:pic>
        <p:nvPicPr>
          <p:cNvPr id="17" name="图片" descr="preencoded.png"/>
          <p:cNvPicPr>
            <a:picLocks noChangeAspect="1"/>
          </p:cNvPicPr>
          <p:nvPr/>
        </p:nvPicPr>
        <p:blipFill>
          <a:blip r:embed="rId1" cstate="print"/>
          <a:stretch>
            <a:fillRect/>
          </a:stretch>
        </p:blipFill>
        <p:spPr>
          <a:xfrm rot="0">
            <a:off x="620092" y="3996854"/>
            <a:ext cx="155004" cy="123973"/>
          </a:xfrm>
          <a:prstGeom prst="rect"/>
          <a:noFill/>
          <a:ln w="12700" cmpd="sng" cap="flat">
            <a:noFill/>
            <a:prstDash val="solid"/>
            <a:miter/>
          </a:ln>
        </p:spPr>
      </p:pic>
      <p:sp>
        <p:nvSpPr>
          <p:cNvPr id="18" name="矩形"/>
          <p:cNvSpPr>
            <a:spLocks/>
          </p:cNvSpPr>
          <p:nvPr/>
        </p:nvSpPr>
        <p:spPr>
          <a:xfrm rot="0">
            <a:off x="899071" y="3971999"/>
            <a:ext cx="7624837" cy="396924"/>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950" b="0" i="0" u="none" strike="noStrike" kern="1200" cap="none" spc="0" baseline="0">
                <a:solidFill>
                  <a:srgbClr val="000000"/>
                </a:solidFill>
                <a:latin typeface="Tomorrow" pitchFamily="34" charset="0"/>
                <a:ea typeface="Tomorrow" pitchFamily="34" charset="0"/>
                <a:cs typeface="Tomorrow" pitchFamily="34" charset="0"/>
              </a:rPr>
              <a:t> Welcome the audience and introduce the team. Set the stage: traditional hiring is broken, and AI is the answer. Transition to the problem statement on the next slide.</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197258734"/>
      </p:ext>
    </p:extLst>
  </p:cSld>
  <p:clrMapOvr>
    <a:masterClrMapping/>
  </p:clrMapOvr>
</p:sld>
</file>

<file path=ppt/slides/slide2.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1" name="圆角矩形"/>
          <p:cNvSpPr>
            <a:spLocks/>
          </p:cNvSpPr>
          <p:nvPr/>
        </p:nvSpPr>
        <p:spPr>
          <a:xfrm rot="0">
            <a:off x="496119" y="672182"/>
            <a:ext cx="937766" cy="233214"/>
          </a:xfrm>
          <a:prstGeom prst="roundRect">
            <a:avLst>
              <a:gd name="adj" fmla="val 6384"/>
            </a:avLst>
          </a:prstGeom>
          <a:noFill/>
          <a:ln w="12700" cmpd="sng" cap="flat">
            <a:noFill/>
            <a:prstDash val="solid"/>
            <a:miter/>
          </a:ln>
          <a:effectLst>
            <a:outerShdw sx="100000" sy="100000" algn="bl" rotWithShape="0" blurRad="101600" dist="50800" dir="16200000">
              <a:srgbClr val="1D1D1B">
                <a:alpha val="99607"/>
              </a:srgbClr>
            </a:outerShdw>
          </a:effectLst>
        </p:spPr>
      </p:sp>
      <p:sp>
        <p:nvSpPr>
          <p:cNvPr id="22" name="矩形"/>
          <p:cNvSpPr>
            <a:spLocks/>
          </p:cNvSpPr>
          <p:nvPr/>
        </p:nvSpPr>
        <p:spPr>
          <a:xfrm rot="0">
            <a:off x="570533" y="709389"/>
            <a:ext cx="1246138" cy="158800"/>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750" b="0" i="0" u="none" strike="noStrike" kern="1200" cap="none" spc="0" baseline="0">
                <a:solidFill>
                  <a:srgbClr val="1D1D1B"/>
                </a:solidFill>
                <a:latin typeface="Tomorrow" pitchFamily="34" charset="0"/>
                <a:ea typeface="Tomorrow" pitchFamily="34" charset="0"/>
                <a:cs typeface="Tomorrow" pitchFamily="34" charset="0"/>
              </a:rPr>
              <a:t>THE CHALLENGE</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 name="矩形"/>
          <p:cNvSpPr>
            <a:spLocks/>
          </p:cNvSpPr>
          <p:nvPr/>
        </p:nvSpPr>
        <p:spPr>
          <a:xfrm rot="0">
            <a:off x="496119" y="954955"/>
            <a:ext cx="5199980" cy="3875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2400" b="0" i="0" u="none" strike="noStrike" kern="1200" cap="none" spc="0" baseline="0">
                <a:solidFill>
                  <a:srgbClr val="1D1D1B"/>
                </a:solidFill>
                <a:latin typeface="Tomorrow SemiBold" pitchFamily="34" charset="0"/>
                <a:ea typeface="Tomorrow SemiBold" pitchFamily="34" charset="0"/>
                <a:cs typeface="Tomorrow SemiBold" pitchFamily="34" charset="0"/>
              </a:rPr>
              <a:t>Hiring Is Broken — Here's Why</a:t>
            </a:r>
            <a:endParaRPr lang="zh-CN" altLang="en-US" sz="2400" b="0" i="0" u="none" strike="noStrike" kern="1200" cap="none" spc="0" baseline="0">
              <a:solidFill>
                <a:schemeClr val="tx1"/>
              </a:solidFill>
              <a:latin typeface="Calibri" pitchFamily="0" charset="0"/>
              <a:ea typeface="等线" pitchFamily="0" charset="0"/>
              <a:cs typeface="Calibri" pitchFamily="0" charset="0"/>
            </a:endParaRPr>
          </a:p>
        </p:txBody>
      </p:sp>
      <p:sp>
        <p:nvSpPr>
          <p:cNvPr id="24" name="矩形"/>
          <p:cNvSpPr>
            <a:spLocks/>
          </p:cNvSpPr>
          <p:nvPr/>
        </p:nvSpPr>
        <p:spPr>
          <a:xfrm rot="0">
            <a:off x="496119" y="1528539"/>
            <a:ext cx="8151763" cy="396924"/>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61615C"/>
                </a:solidFill>
                <a:latin typeface="Tomorrow" pitchFamily="34" charset="0"/>
                <a:ea typeface="Tomorrow" pitchFamily="34" charset="0"/>
                <a:cs typeface="Tomorrow" pitchFamily="34" charset="0"/>
              </a:rPr>
              <a:t>Recruiters spend </a:t>
            </a:r>
            <a:r>
              <a:rPr lang="en-US" altLang="zh-CN" sz="950" b="1" i="0" u="none" strike="noStrike" kern="1200" cap="none" spc="0" baseline="0">
                <a:solidFill>
                  <a:srgbClr val="61615C"/>
                </a:solidFill>
                <a:latin typeface="Tomorrow Bold" pitchFamily="34" charset="0"/>
                <a:ea typeface="Tomorrow Bold" pitchFamily="34" charset="0"/>
                <a:cs typeface="Tomorrow Bold" pitchFamily="34" charset="0"/>
              </a:rPr>
              <a:t>23 hours</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 per hire on screening alone. Poor matching costs companies up to </a:t>
            </a:r>
            <a:r>
              <a:rPr lang="en-US" altLang="zh-CN" sz="950" b="1" i="0" u="none" strike="noStrike" kern="1200" cap="none" spc="0" baseline="0">
                <a:solidFill>
                  <a:srgbClr val="61615C"/>
                </a:solidFill>
                <a:latin typeface="Tomorrow Bold" pitchFamily="34" charset="0"/>
                <a:ea typeface="Tomorrow Bold" pitchFamily="34" charset="0"/>
                <a:cs typeface="Tomorrow Bold" pitchFamily="34" charset="0"/>
              </a:rPr>
              <a:t>30% of first-year earnings</a:t>
            </a:r>
            <a:r>
              <a:rPr lang="en-US" altLang="zh-CN" sz="950" b="0" i="0" u="none" strike="noStrike" kern="1200" cap="none" spc="0" baseline="0">
                <a:solidFill>
                  <a:srgbClr val="61615C"/>
                </a:solidFill>
                <a:latin typeface="Tomorrow" pitchFamily="34" charset="0"/>
                <a:ea typeface="Tomorrow" pitchFamily="34" charset="0"/>
                <a:cs typeface="Tomorrow" pitchFamily="34" charset="0"/>
              </a:rPr>
              <a:t>. The process is slow, expensive, and deeply inefficient.</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25" name="圆角矩形"/>
          <p:cNvSpPr>
            <a:spLocks/>
          </p:cNvSpPr>
          <p:nvPr/>
        </p:nvSpPr>
        <p:spPr>
          <a:xfrm rot="0">
            <a:off x="496119" y="2064990"/>
            <a:ext cx="4013895" cy="724198"/>
          </a:xfrm>
          <a:prstGeom prst="roundRect">
            <a:avLst>
              <a:gd name="adj" fmla="val 2569"/>
            </a:avLst>
          </a:prstGeom>
          <a:solidFill>
            <a:srgbClr val="2563EB"/>
          </a:solidFill>
          <a:ln w="12700" cmpd="sng" cap="flat">
            <a:noFill/>
            <a:prstDash val="solid"/>
            <a:miter/>
          </a:ln>
        </p:spPr>
      </p:sp>
      <p:sp>
        <p:nvSpPr>
          <p:cNvPr id="26" name="矩形"/>
          <p:cNvSpPr>
            <a:spLocks/>
          </p:cNvSpPr>
          <p:nvPr/>
        </p:nvSpPr>
        <p:spPr>
          <a:xfrm rot="0">
            <a:off x="620092" y="2188964"/>
            <a:ext cx="1655192" cy="20337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000000"/>
                </a:solidFill>
                <a:latin typeface="Twemoji Mozilla" pitchFamily="34" charset="0"/>
                <a:ea typeface="Twemoji Mozilla" pitchFamily="34" charset="0"/>
                <a:cs typeface="Twemoji Mozilla" pitchFamily="34" charset="0"/>
              </a:rPr>
              <a:t>⏱</a:t>
            </a:r>
            <a:r>
              <a:rPr lang="en-US" altLang="zh-CN" sz="1200" b="0" i="0" u="none" strike="noStrike" kern="1200" cap="none" spc="0" baseline="0">
                <a:solidFill>
                  <a:srgbClr val="FFFFFF"/>
                </a:solidFill>
                <a:latin typeface="Tomorrow SemiBold" pitchFamily="34" charset="0"/>
                <a:ea typeface="Tomorrow SemiBold" pitchFamily="34" charset="0"/>
                <a:cs typeface="Tomorrow SemiBold" pitchFamily="34" charset="0"/>
              </a:rPr>
              <a:t> Manual Screening</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 name="矩形"/>
          <p:cNvSpPr>
            <a:spLocks/>
          </p:cNvSpPr>
          <p:nvPr/>
        </p:nvSpPr>
        <p:spPr>
          <a:xfrm rot="0">
            <a:off x="620092" y="2466752"/>
            <a:ext cx="3765947"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FFFFFF"/>
                </a:solidFill>
                <a:latin typeface="Tomorrow" pitchFamily="34" charset="0"/>
                <a:ea typeface="Tomorrow" pitchFamily="34" charset="0"/>
                <a:cs typeface="Tomorrow" pitchFamily="34" charset="0"/>
              </a:rPr>
              <a:t>Hours lost reviewing hundreds of unqualified resumes by hand</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28" name="圆角矩形"/>
          <p:cNvSpPr>
            <a:spLocks/>
          </p:cNvSpPr>
          <p:nvPr/>
        </p:nvSpPr>
        <p:spPr>
          <a:xfrm rot="0">
            <a:off x="4633987" y="2064990"/>
            <a:ext cx="4013895" cy="724198"/>
          </a:xfrm>
          <a:prstGeom prst="roundRect">
            <a:avLst>
              <a:gd name="adj" fmla="val 2569"/>
            </a:avLst>
          </a:prstGeom>
          <a:solidFill>
            <a:srgbClr val="2563EB"/>
          </a:solidFill>
          <a:ln w="12700" cmpd="sng" cap="flat">
            <a:noFill/>
            <a:prstDash val="solid"/>
            <a:miter/>
          </a:ln>
        </p:spPr>
      </p:sp>
      <p:sp>
        <p:nvSpPr>
          <p:cNvPr id="29" name="矩形"/>
          <p:cNvSpPr>
            <a:spLocks/>
          </p:cNvSpPr>
          <p:nvPr/>
        </p:nvSpPr>
        <p:spPr>
          <a:xfrm rot="0">
            <a:off x="4757961" y="2188964"/>
            <a:ext cx="1550566" cy="20337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Twemoji Mozilla" pitchFamily="34" charset="0"/>
                <a:ea typeface="Twemoji Mozilla" pitchFamily="34" charset="0"/>
                <a:cs typeface="Twemoji Mozilla" pitchFamily="34" charset="0"/>
              </a:rPr>
              <a:t>🎯</a:t>
            </a:r>
            <a:r>
              <a:rPr lang="en-US" altLang="zh-CN" sz="1200" b="0" i="0" u="none" strike="noStrike" kern="1200" cap="none" spc="0" baseline="0">
                <a:solidFill>
                  <a:srgbClr val="FFFFFF"/>
                </a:solidFill>
                <a:latin typeface="Tomorrow SemiBold" pitchFamily="34" charset="0"/>
                <a:ea typeface="Tomorrow SemiBold" pitchFamily="34" charset="0"/>
                <a:cs typeface="Tomorrow SemiBold" pitchFamily="34" charset="0"/>
              </a:rPr>
              <a:t> Poor Matching</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0" name="矩形"/>
          <p:cNvSpPr>
            <a:spLocks/>
          </p:cNvSpPr>
          <p:nvPr/>
        </p:nvSpPr>
        <p:spPr>
          <a:xfrm rot="0">
            <a:off x="4757961" y="2466752"/>
            <a:ext cx="3765947"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FFFFFF"/>
                </a:solidFill>
                <a:latin typeface="Tomorrow" pitchFamily="34" charset="0"/>
                <a:ea typeface="Tomorrow" pitchFamily="34" charset="0"/>
                <a:cs typeface="Tomorrow" pitchFamily="34" charset="0"/>
              </a:rPr>
              <a:t>Candidates selected on keywords, not genuine fit or potential</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31" name="圆角矩形"/>
          <p:cNvSpPr>
            <a:spLocks/>
          </p:cNvSpPr>
          <p:nvPr/>
        </p:nvSpPr>
        <p:spPr>
          <a:xfrm rot="0">
            <a:off x="496119" y="2913162"/>
            <a:ext cx="4013895" cy="724198"/>
          </a:xfrm>
          <a:prstGeom prst="roundRect">
            <a:avLst>
              <a:gd name="adj" fmla="val 2569"/>
            </a:avLst>
          </a:prstGeom>
          <a:solidFill>
            <a:srgbClr val="2563EB"/>
          </a:solidFill>
          <a:ln w="12700" cmpd="sng" cap="flat">
            <a:noFill/>
            <a:prstDash val="solid"/>
            <a:miter/>
          </a:ln>
        </p:spPr>
      </p:sp>
      <p:sp>
        <p:nvSpPr>
          <p:cNvPr id="32" name="矩形"/>
          <p:cNvSpPr>
            <a:spLocks/>
          </p:cNvSpPr>
          <p:nvPr/>
        </p:nvSpPr>
        <p:spPr>
          <a:xfrm rot="0">
            <a:off x="620092" y="3037135"/>
            <a:ext cx="1564407" cy="20337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Twemoji Mozilla" pitchFamily="34" charset="0"/>
                <a:ea typeface="Twemoji Mozilla" pitchFamily="34" charset="0"/>
                <a:cs typeface="Twemoji Mozilla" pitchFamily="34" charset="0"/>
              </a:rPr>
              <a:t>💸</a:t>
            </a:r>
            <a:r>
              <a:rPr lang="en-US" altLang="zh-CN" sz="1200" b="0" i="0" u="none" strike="noStrike" kern="1200" cap="none" spc="0" baseline="0">
                <a:solidFill>
                  <a:srgbClr val="FFFFFF"/>
                </a:solidFill>
                <a:latin typeface="Tomorrow SemiBold" pitchFamily="34" charset="0"/>
                <a:ea typeface="Tomorrow SemiBold" pitchFamily="34" charset="0"/>
                <a:cs typeface="Tomorrow SemiBold" pitchFamily="34" charset="0"/>
              </a:rPr>
              <a:t> Salary Blindness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3" name="矩形"/>
          <p:cNvSpPr>
            <a:spLocks/>
          </p:cNvSpPr>
          <p:nvPr/>
        </p:nvSpPr>
        <p:spPr>
          <a:xfrm rot="0">
            <a:off x="620092" y="3314923"/>
            <a:ext cx="3765947"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FFFFFF"/>
                </a:solidFill>
                <a:latin typeface="Tomorrow" pitchFamily="34" charset="0"/>
                <a:ea typeface="Tomorrow" pitchFamily="34" charset="0"/>
                <a:cs typeface="Tomorrow" pitchFamily="34" charset="0"/>
              </a:rPr>
              <a:t>No real-time market data to guide fair, competitive offers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34" name="圆角矩形"/>
          <p:cNvSpPr>
            <a:spLocks/>
          </p:cNvSpPr>
          <p:nvPr/>
        </p:nvSpPr>
        <p:spPr>
          <a:xfrm rot="0">
            <a:off x="4633987" y="2913162"/>
            <a:ext cx="4013895" cy="724198"/>
          </a:xfrm>
          <a:prstGeom prst="roundRect">
            <a:avLst>
              <a:gd name="adj" fmla="val 2569"/>
            </a:avLst>
          </a:prstGeom>
          <a:solidFill>
            <a:srgbClr val="2563EB"/>
          </a:solidFill>
          <a:ln w="12700" cmpd="sng" cap="flat">
            <a:noFill/>
            <a:prstDash val="solid"/>
            <a:miter/>
          </a:ln>
        </p:spPr>
      </p:sp>
      <p:sp>
        <p:nvSpPr>
          <p:cNvPr id="35" name="矩形"/>
          <p:cNvSpPr>
            <a:spLocks/>
          </p:cNvSpPr>
          <p:nvPr/>
        </p:nvSpPr>
        <p:spPr>
          <a:xfrm rot="0">
            <a:off x="4757961" y="3037135"/>
            <a:ext cx="1734741" cy="20337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1200" b="0" i="0" u="none" strike="noStrike" kern="1200" cap="none" spc="0" baseline="0">
                <a:solidFill>
                  <a:srgbClr val="000000"/>
                </a:solidFill>
                <a:latin typeface="Twemoji Mozilla" pitchFamily="34" charset="0"/>
                <a:ea typeface="Twemoji Mozilla" pitchFamily="34" charset="0"/>
                <a:cs typeface="Twemoji Mozilla" pitchFamily="34" charset="0"/>
              </a:rPr>
              <a:t>📋</a:t>
            </a:r>
            <a:r>
              <a:rPr lang="en-US" altLang="zh-CN" sz="1200" b="0" i="0" u="none" strike="noStrike" kern="1200" cap="none" spc="0" baseline="0">
                <a:solidFill>
                  <a:srgbClr val="FFFFFF"/>
                </a:solidFill>
                <a:latin typeface="Tomorrow SemiBold" pitchFamily="34" charset="0"/>
                <a:ea typeface="Tomorrow SemiBold" pitchFamily="34" charset="0"/>
                <a:cs typeface="Tomorrow SemiBold" pitchFamily="34" charset="0"/>
              </a:rPr>
              <a:t> Generic Interviews</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36" name="矩形"/>
          <p:cNvSpPr>
            <a:spLocks/>
          </p:cNvSpPr>
          <p:nvPr/>
        </p:nvSpPr>
        <p:spPr>
          <a:xfrm rot="0">
            <a:off x="4757961" y="3314923"/>
            <a:ext cx="3765947" cy="198461"/>
          </a:xfrm>
          <a:prstGeom prst="rect"/>
          <a:noFill/>
          <a:ln w="12700" cmpd="sng" cap="flat">
            <a:noFill/>
            <a:prstDash val="solid"/>
            <a:miter/>
          </a:ln>
        </p:spPr>
        <p:txBody>
          <a:bodyPr vert="horz" wrap="none" lIns="0" tIns="0" rIns="0" bIns="0" anchor="t" anchorCtr="0">
            <a:prstTxWarp prst="textNoShape"/>
          </a:bodyPr>
          <a:lstStyle/>
          <a:p>
            <a:pPr marL="0" indent="0" algn="l">
              <a:lnSpc>
                <a:spcPct val="133000"/>
              </a:lnSpc>
              <a:spcBef>
                <a:spcPts val="0"/>
              </a:spcBef>
              <a:spcAft>
                <a:spcPts val="0"/>
              </a:spcAft>
              <a:buNone/>
            </a:pPr>
            <a:r>
              <a:rPr lang="en-US" altLang="zh-CN" sz="950" b="0" i="0" u="none" strike="noStrike" kern="1200" cap="none" spc="0" baseline="0">
                <a:solidFill>
                  <a:srgbClr val="FFFFFF"/>
                </a:solidFill>
                <a:latin typeface="Tomorrow" pitchFamily="34" charset="0"/>
                <a:ea typeface="Tomorrow" pitchFamily="34" charset="0"/>
                <a:cs typeface="Tomorrow" pitchFamily="34" charset="0"/>
              </a:rPr>
              <a:t>One-size-fits-all questions that fail to assess true capability</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37" name="圆角矩形"/>
          <p:cNvSpPr>
            <a:spLocks/>
          </p:cNvSpPr>
          <p:nvPr/>
        </p:nvSpPr>
        <p:spPr>
          <a:xfrm rot="0">
            <a:off x="496119" y="3776885"/>
            <a:ext cx="8151763" cy="694431"/>
          </a:xfrm>
          <a:prstGeom prst="roundRect">
            <a:avLst>
              <a:gd name="adj" fmla="val 2680"/>
            </a:avLst>
          </a:prstGeom>
          <a:solidFill>
            <a:srgbClr val="E6E6E5"/>
          </a:solidFill>
          <a:ln w="12700" cmpd="sng" cap="flat">
            <a:noFill/>
            <a:prstDash val="solid"/>
            <a:miter/>
          </a:ln>
        </p:spPr>
      </p:sp>
      <p:pic>
        <p:nvPicPr>
          <p:cNvPr id="38" name="图片" descr="preencoded.png"/>
          <p:cNvPicPr>
            <a:picLocks noChangeAspect="1"/>
          </p:cNvPicPr>
          <p:nvPr/>
        </p:nvPicPr>
        <p:blipFill>
          <a:blip r:embed="rId1" cstate="print"/>
          <a:stretch>
            <a:fillRect/>
          </a:stretch>
        </p:blipFill>
        <p:spPr>
          <a:xfrm rot="0">
            <a:off x="620092" y="3956670"/>
            <a:ext cx="155004" cy="123973"/>
          </a:xfrm>
          <a:prstGeom prst="rect"/>
          <a:noFill/>
          <a:ln w="12700" cmpd="sng" cap="flat">
            <a:noFill/>
            <a:prstDash val="solid"/>
            <a:miter/>
          </a:ln>
        </p:spPr>
      </p:pic>
      <p:sp>
        <p:nvSpPr>
          <p:cNvPr id="39" name="矩形"/>
          <p:cNvSpPr>
            <a:spLocks/>
          </p:cNvSpPr>
          <p:nvPr/>
        </p:nvSpPr>
        <p:spPr>
          <a:xfrm rot="0">
            <a:off x="899071" y="3931815"/>
            <a:ext cx="7624837" cy="396924"/>
          </a:xfrm>
          <a:prstGeom prst="rect"/>
          <a:noFill/>
          <a:ln w="12700" cmpd="sng" cap="flat">
            <a:noFill/>
            <a:prstDash val="solid"/>
            <a:miter/>
          </a:ln>
        </p:spPr>
        <p:txBody>
          <a:bodyPr vert="horz" wrap="square" lIns="0" tIns="0" rIns="0" bIns="0" anchor="t" anchorCtr="0">
            <a:prstTxWarp prst="textNoShape"/>
          </a:bodyPr>
          <a:lstStyle/>
          <a:p>
            <a:pPr marL="0" indent="0" algn="l">
              <a:lnSpc>
                <a:spcPct val="133000"/>
              </a:lnSpc>
              <a:spcBef>
                <a:spcPts val="0"/>
              </a:spcBef>
              <a:spcAft>
                <a:spcPts val="0"/>
              </a:spcAft>
              <a:buNone/>
            </a:pPr>
            <a:r>
              <a:rPr lang="en-US" altLang="zh-CN" sz="95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950" b="0" i="0" u="none" strike="noStrike" kern="1200" cap="none" spc="0" baseline="0">
                <a:solidFill>
                  <a:srgbClr val="000000"/>
                </a:solidFill>
                <a:latin typeface="Tomorrow" pitchFamily="34" charset="0"/>
                <a:ea typeface="Tomorrow" pitchFamily="34" charset="0"/>
                <a:cs typeface="Tomorrow" pitchFamily="34" charset="0"/>
              </a:rPr>
              <a:t> Emphasize the statistics — 23 hours per hire and 30% cost of poor matches are powerful numbers. Ask the audience if they've experienced slow hiring. Transition by saying "What if AI could fix all of this?"</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961372722"/>
      </p:ext>
    </p:extLst>
  </p:cSld>
  <p:clrMapOvr>
    <a:masterClrMapping/>
  </p:clrMapOvr>
</p:sld>
</file>

<file path=ppt/slides/slide3.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42" name="圆角矩形"/>
          <p:cNvSpPr>
            <a:spLocks/>
          </p:cNvSpPr>
          <p:nvPr/>
        </p:nvSpPr>
        <p:spPr>
          <a:xfrm rot="0">
            <a:off x="496119" y="341114"/>
            <a:ext cx="434876" cy="96738"/>
          </a:xfrm>
          <a:prstGeom prst="roundRect">
            <a:avLst>
              <a:gd name="adj" fmla="val 7694"/>
            </a:avLst>
          </a:prstGeom>
          <a:solidFill>
            <a:srgbClr val="E6E6E5"/>
          </a:solidFill>
          <a:ln w="12700" cmpd="sng" cap="flat">
            <a:noFill/>
            <a:prstDash val="solid"/>
            <a:miter/>
          </a:ln>
        </p:spPr>
      </p:sp>
      <p:sp>
        <p:nvSpPr>
          <p:cNvPr id="43" name="矩形"/>
          <p:cNvSpPr>
            <a:spLocks/>
          </p:cNvSpPr>
          <p:nvPr/>
        </p:nvSpPr>
        <p:spPr>
          <a:xfrm rot="0">
            <a:off x="533326" y="359718"/>
            <a:ext cx="817661" cy="59531"/>
          </a:xfrm>
          <a:prstGeom prst="rect"/>
          <a:noFill/>
          <a:ln w="12700" cmpd="sng" cap="flat">
            <a:noFill/>
            <a:prstDash val="solid"/>
            <a:miter/>
          </a:ln>
        </p:spPr>
        <p:txBody>
          <a:bodyPr vert="horz" wrap="none" lIns="0" tIns="0" rIns="0" bIns="0" anchor="t" anchorCtr="0">
            <a:prstTxWarp prst="textNoShape"/>
          </a:bodyPr>
          <a:lstStyle/>
          <a:p>
            <a:pPr marL="0" indent="0" algn="l">
              <a:lnSpc>
                <a:spcPct val="100000"/>
              </a:lnSpc>
              <a:spcBef>
                <a:spcPts val="0"/>
              </a:spcBef>
              <a:spcAft>
                <a:spcPts val="0"/>
              </a:spcAft>
              <a:buNone/>
            </a:pPr>
            <a:r>
              <a:rPr lang="en-US" altLang="zh-CN" sz="350" b="0" i="0" u="none" strike="noStrike" kern="1200" cap="none" spc="0" baseline="0">
                <a:solidFill>
                  <a:srgbClr val="61615C"/>
                </a:solidFill>
                <a:latin typeface="Tomorrow" pitchFamily="34" charset="0"/>
                <a:ea typeface="Tomorrow" pitchFamily="34" charset="0"/>
                <a:cs typeface="Tomorrow" pitchFamily="34" charset="0"/>
              </a:rPr>
              <a:t>OUR SOLUTION</a:t>
            </a:r>
            <a:endParaRPr lang="zh-CN" altLang="en-US" sz="350" b="0" i="0" u="none" strike="noStrike" kern="1200" cap="none" spc="0" baseline="0">
              <a:solidFill>
                <a:schemeClr val="tx1"/>
              </a:solidFill>
              <a:latin typeface="Calibri" pitchFamily="0" charset="0"/>
              <a:ea typeface="等线" pitchFamily="0" charset="0"/>
              <a:cs typeface="Calibri" pitchFamily="0" charset="0"/>
            </a:endParaRPr>
          </a:p>
        </p:txBody>
      </p:sp>
      <p:sp>
        <p:nvSpPr>
          <p:cNvPr id="44" name="矩形"/>
          <p:cNvSpPr>
            <a:spLocks/>
          </p:cNvSpPr>
          <p:nvPr/>
        </p:nvSpPr>
        <p:spPr>
          <a:xfrm rot="0">
            <a:off x="496119" y="450205"/>
            <a:ext cx="2581274"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1D1D1B"/>
                </a:solidFill>
                <a:latin typeface="Tomorrow SemiBold" pitchFamily="34" charset="0"/>
                <a:ea typeface="Tomorrow SemiBold" pitchFamily="34" charset="0"/>
                <a:cs typeface="Tomorrow SemiBold" pitchFamily="34" charset="0"/>
              </a:rPr>
              <a:t>Introducing RecruitFlow AI</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45" name="矩形"/>
          <p:cNvSpPr>
            <a:spLocks/>
          </p:cNvSpPr>
          <p:nvPr/>
        </p:nvSpPr>
        <p:spPr>
          <a:xfrm rot="0">
            <a:off x="496119" y="690562"/>
            <a:ext cx="8151763" cy="14867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450" b="0" i="0" u="none" strike="noStrike" kern="1200" cap="none" spc="0" baseline="0">
                <a:solidFill>
                  <a:srgbClr val="61615C"/>
                </a:solidFill>
                <a:latin typeface="Tomorrow" pitchFamily="34" charset="0"/>
                <a:ea typeface="Tomorrow" pitchFamily="34" charset="0"/>
                <a:cs typeface="Tomorrow" pitchFamily="34" charset="0"/>
              </a:rPr>
              <a:t>RecruitFlow AI is an intelligent, multi-agent recruitment assistant powered by LangGraph. It automates the entire hiring pipeline — from job description parsing to final candidate shortlisting — through a conversational, human-in-the-loop interface that keeps recruiters in control.</a:t>
            </a:r>
            <a:endParaRPr lang="zh-CN" altLang="en-US" sz="4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46" name="图片" descr="preencoded.png"/>
          <p:cNvPicPr>
            <a:picLocks noChangeAspect="1"/>
          </p:cNvPicPr>
          <p:nvPr/>
        </p:nvPicPr>
        <p:blipFill>
          <a:blip r:embed="rId1" cstate="print"/>
          <a:stretch>
            <a:fillRect/>
          </a:stretch>
        </p:blipFill>
        <p:spPr>
          <a:xfrm rot="0">
            <a:off x="496119" y="874068"/>
            <a:ext cx="7315200" cy="4114800"/>
          </a:xfrm>
          <a:prstGeom prst="rect"/>
          <a:noFill/>
          <a:ln w="12700" cmpd="sng" cap="flat">
            <a:noFill/>
            <a:prstDash val="solid"/>
            <a:miter/>
          </a:ln>
        </p:spPr>
      </p:pic>
      <p:sp>
        <p:nvSpPr>
          <p:cNvPr id="47" name="圆角矩形"/>
          <p:cNvSpPr>
            <a:spLocks/>
          </p:cNvSpPr>
          <p:nvPr/>
        </p:nvSpPr>
        <p:spPr>
          <a:xfrm rot="0">
            <a:off x="451470" y="5023693"/>
            <a:ext cx="4089574" cy="499318"/>
          </a:xfrm>
          <a:prstGeom prst="roundRect">
            <a:avLst>
              <a:gd name="adj" fmla="val 1861"/>
            </a:avLst>
          </a:prstGeom>
          <a:solidFill>
            <a:srgbClr val="1D1D1B"/>
          </a:solidFill>
          <a:ln w="12700" cmpd="sng" cap="flat">
            <a:noFill/>
            <a:prstDash val="solid"/>
            <a:miter/>
          </a:ln>
        </p:spPr>
      </p:sp>
      <p:sp>
        <p:nvSpPr>
          <p:cNvPr id="48" name="矩形"/>
          <p:cNvSpPr>
            <a:spLocks/>
          </p:cNvSpPr>
          <p:nvPr/>
        </p:nvSpPr>
        <p:spPr>
          <a:xfrm rot="0">
            <a:off x="513457" y="5054650"/>
            <a:ext cx="1311548" cy="96886"/>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600" b="0" i="0" u="none" strike="noStrike" kern="1200" cap="none" spc="0" baseline="0">
                <a:solidFill>
                  <a:srgbClr val="FFFFFF"/>
                </a:solidFill>
                <a:latin typeface="Tomorrow SemiBold" pitchFamily="34" charset="0"/>
                <a:ea typeface="Tomorrow SemiBold" pitchFamily="34" charset="0"/>
                <a:cs typeface="Tomorrow SemiBold" pitchFamily="34" charset="0"/>
              </a:rPr>
              <a:t>Before RecruitFlow AI</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
        <p:nvSpPr>
          <p:cNvPr id="49" name="矩形"/>
          <p:cNvSpPr>
            <a:spLocks/>
          </p:cNvSpPr>
          <p:nvPr/>
        </p:nvSpPr>
        <p:spPr>
          <a:xfrm rot="0">
            <a:off x="513457" y="5182493"/>
            <a:ext cx="3965599" cy="329728"/>
          </a:xfrm>
          <a:prstGeom prst="rect"/>
          <a:noFill/>
          <a:ln w="12700" cmpd="sng" cap="flat">
            <a:noFill/>
            <a:prstDash val="solid"/>
            <a:miter/>
          </a:ln>
        </p:spPr>
        <p:txBody>
          <a:bodyPr vert="horz" wrap="square" lIns="0" tIns="0" rIns="0" bIns="0" anchor="t" anchorCtr="0">
            <a:prstTxWarp prst="textNoShape"/>
          </a:bodyPr>
          <a:lstStyle/>
          <a:p>
            <a:pPr marL="91440" indent="-91440" algn="l">
              <a:lnSpc>
                <a:spcPct val="100000"/>
              </a:lnSpc>
              <a:spcBef>
                <a:spcPts val="0"/>
              </a:spcBef>
              <a:spcAft>
                <a:spcPts val="0"/>
              </a:spcAft>
              <a:buClrTx/>
              <a:buChar char="•"/>
            </a:pPr>
            <a:r>
              <a:rPr lang="en-US" altLang="zh-CN" sz="450" b="0" i="0" u="none" strike="noStrike" kern="1200" cap="none" spc="0" baseline="0">
                <a:solidFill>
                  <a:srgbClr val="FFFFFF"/>
                </a:solidFill>
                <a:latin typeface="Tomorrow" pitchFamily="34" charset="0"/>
                <a:ea typeface="Tomorrow" pitchFamily="34" charset="0"/>
                <a:cs typeface="Tomorrow" pitchFamily="34" charset="0"/>
              </a:rPr>
              <a:t>Manual resume screening takes hours</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0" i="0" u="none" strike="noStrike" kern="1200" cap="none" spc="0" baseline="0">
                <a:solidFill>
                  <a:srgbClr val="FFFFFF"/>
                </a:solidFill>
                <a:latin typeface="Tomorrow" pitchFamily="34" charset="0"/>
                <a:ea typeface="Tomorrow" pitchFamily="34" charset="0"/>
                <a:cs typeface="Tomorrow" pitchFamily="34" charset="0"/>
              </a:rPr>
              <a:t>Poor candidate-to-role matching</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0" i="0" u="none" strike="noStrike" kern="1200" cap="none" spc="0" baseline="0">
                <a:solidFill>
                  <a:srgbClr val="FFFFFF"/>
                </a:solidFill>
                <a:latin typeface="Tomorrow" pitchFamily="34" charset="0"/>
                <a:ea typeface="Tomorrow" pitchFamily="34" charset="0"/>
                <a:cs typeface="Tomorrow" pitchFamily="34" charset="0"/>
              </a:rPr>
              <a:t>Generic, non-targeted interviews</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0" i="0" u="none" strike="noStrike" kern="1200" cap="none" spc="0" baseline="0">
                <a:solidFill>
                  <a:srgbClr val="FFFFFF"/>
                </a:solidFill>
                <a:latin typeface="Tomorrow" pitchFamily="34" charset="0"/>
                <a:ea typeface="Tomorrow" pitchFamily="34" charset="0"/>
                <a:cs typeface="Tomorrow" pitchFamily="34" charset="0"/>
              </a:rPr>
              <a:t>Salary decisions made on guesswork</a:t>
            </a:r>
            <a:endParaRPr lang="zh-CN" altLang="en-US" sz="450" b="0" i="0" u="none" strike="noStrike" kern="1200" cap="none" spc="0" baseline="0">
              <a:solidFill>
                <a:schemeClr val="tx1"/>
              </a:solidFill>
              <a:latin typeface="Calibri" pitchFamily="0" charset="0"/>
              <a:ea typeface="等线" pitchFamily="0" charset="0"/>
              <a:cs typeface="Calibri" pitchFamily="0" charset="0"/>
            </a:endParaRPr>
          </a:p>
        </p:txBody>
      </p:sp>
      <p:sp>
        <p:nvSpPr>
          <p:cNvPr id="50" name="矩形"/>
          <p:cNvSpPr>
            <a:spLocks/>
          </p:cNvSpPr>
          <p:nvPr/>
        </p:nvSpPr>
        <p:spPr>
          <a:xfrm rot="0">
            <a:off x="4652367" y="5054650"/>
            <a:ext cx="1243459" cy="96886"/>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600" b="0" i="0" u="none" strike="noStrike" kern="1200" cap="none" spc="0" baseline="0">
                <a:solidFill>
                  <a:srgbClr val="1D1D1B"/>
                </a:solidFill>
                <a:latin typeface="Tomorrow SemiBold" pitchFamily="34" charset="0"/>
                <a:ea typeface="Tomorrow SemiBold" pitchFamily="34" charset="0"/>
                <a:cs typeface="Tomorrow SemiBold" pitchFamily="34" charset="0"/>
              </a:rPr>
              <a:t>After RecruitFlow AI</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
        <p:nvSpPr>
          <p:cNvPr id="51" name="矩形"/>
          <p:cNvSpPr>
            <a:spLocks/>
          </p:cNvSpPr>
          <p:nvPr/>
        </p:nvSpPr>
        <p:spPr>
          <a:xfrm rot="0">
            <a:off x="4652367" y="5182493"/>
            <a:ext cx="4000277" cy="329728"/>
          </a:xfrm>
          <a:prstGeom prst="rect"/>
          <a:noFill/>
          <a:ln w="12700" cmpd="sng" cap="flat">
            <a:noFill/>
            <a:prstDash val="solid"/>
            <a:miter/>
          </a:ln>
        </p:spPr>
        <p:txBody>
          <a:bodyPr vert="horz" wrap="square" lIns="0" tIns="0" rIns="0" bIns="0" anchor="t" anchorCtr="0">
            <a:prstTxWarp prst="textNoShape"/>
          </a:bodyPr>
          <a:lstStyle/>
          <a:p>
            <a:pPr marL="91440" indent="-91440" algn="l">
              <a:lnSpc>
                <a:spcPct val="100000"/>
              </a:lnSpc>
              <a:spcBef>
                <a:spcPts val="0"/>
              </a:spcBef>
              <a:spcAft>
                <a:spcPts val="0"/>
              </a:spcAft>
              <a:buClrTx/>
              <a:buChar char="•"/>
            </a:pPr>
            <a:r>
              <a:rPr lang="en-US" altLang="zh-CN" sz="450" b="0" i="0" u="none" strike="noStrike" kern="1200" cap="none" spc="0" baseline="0">
                <a:solidFill>
                  <a:srgbClr val="61615C"/>
                </a:solidFill>
                <a:latin typeface="Tomorrow" pitchFamily="34" charset="0"/>
                <a:ea typeface="Tomorrow" pitchFamily="34" charset="0"/>
                <a:cs typeface="Tomorrow" pitchFamily="34" charset="0"/>
              </a:rPr>
              <a:t>AI parses and screens in seconds</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0" i="0" u="none" strike="noStrike" kern="1200" cap="none" spc="0" baseline="0">
                <a:solidFill>
                  <a:srgbClr val="61615C"/>
                </a:solidFill>
                <a:latin typeface="Tomorrow" pitchFamily="34" charset="0"/>
                <a:ea typeface="Tomorrow" pitchFamily="34" charset="0"/>
                <a:cs typeface="Tomorrow" pitchFamily="34" charset="0"/>
              </a:rPr>
              <a:t>Precise, skill-based candidate ranking</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0" i="0" u="none" strike="noStrike" kern="1200" cap="none" spc="0" baseline="0">
                <a:solidFill>
                  <a:srgbClr val="61615C"/>
                </a:solidFill>
                <a:latin typeface="Tomorrow" pitchFamily="34" charset="0"/>
                <a:ea typeface="Tomorrow" pitchFamily="34" charset="0"/>
                <a:cs typeface="Tomorrow" pitchFamily="34" charset="0"/>
              </a:rPr>
              <a:t>Tailored interview questions per role</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0" i="0" u="none" strike="noStrike" kern="1200" cap="none" spc="0" baseline="0">
                <a:solidFill>
                  <a:srgbClr val="61615C"/>
                </a:solidFill>
                <a:latin typeface="Tomorrow" pitchFamily="34" charset="0"/>
                <a:ea typeface="Tomorrow" pitchFamily="34" charset="0"/>
                <a:cs typeface="Tomorrow" pitchFamily="34" charset="0"/>
              </a:rPr>
              <a:t>Real-time market salary estimation</a:t>
            </a:r>
            <a:endParaRPr lang="zh-CN" altLang="en-US" sz="450" b="0" i="0" u="none" strike="noStrike" kern="1200" cap="none" spc="0" baseline="0">
              <a:solidFill>
                <a:schemeClr val="tx1"/>
              </a:solidFill>
              <a:latin typeface="Calibri" pitchFamily="0" charset="0"/>
              <a:ea typeface="等线" pitchFamily="0" charset="0"/>
              <a:cs typeface="Calibri" pitchFamily="0" charset="0"/>
            </a:endParaRPr>
          </a:p>
        </p:txBody>
      </p:sp>
      <p:sp>
        <p:nvSpPr>
          <p:cNvPr id="52" name="圆角矩形"/>
          <p:cNvSpPr>
            <a:spLocks/>
          </p:cNvSpPr>
          <p:nvPr/>
        </p:nvSpPr>
        <p:spPr>
          <a:xfrm rot="0">
            <a:off x="496119" y="5557837"/>
            <a:ext cx="8151763" cy="169142"/>
          </a:xfrm>
          <a:prstGeom prst="roundRect">
            <a:avLst>
              <a:gd name="adj" fmla="val 5500"/>
            </a:avLst>
          </a:prstGeom>
          <a:solidFill>
            <a:srgbClr val="E6E6E5"/>
          </a:solidFill>
          <a:ln w="12700" cmpd="sng" cap="flat">
            <a:noFill/>
            <a:prstDash val="solid"/>
            <a:miter/>
          </a:ln>
        </p:spPr>
      </p:sp>
      <p:pic>
        <p:nvPicPr>
          <p:cNvPr id="53" name="图片" descr="preencoded.png"/>
          <p:cNvPicPr>
            <a:picLocks noChangeAspect="1"/>
          </p:cNvPicPr>
          <p:nvPr/>
        </p:nvPicPr>
        <p:blipFill>
          <a:blip r:embed="rId2" cstate="print"/>
          <a:stretch>
            <a:fillRect/>
          </a:stretch>
        </p:blipFill>
        <p:spPr>
          <a:xfrm rot="0">
            <a:off x="558105" y="5635303"/>
            <a:ext cx="77464" cy="61987"/>
          </a:xfrm>
          <a:prstGeom prst="rect"/>
          <a:noFill/>
          <a:ln w="12700" cmpd="sng" cap="flat">
            <a:noFill/>
            <a:prstDash val="solid"/>
            <a:miter/>
          </a:ln>
        </p:spPr>
      </p:pic>
      <p:sp>
        <p:nvSpPr>
          <p:cNvPr id="54" name="矩形"/>
          <p:cNvSpPr>
            <a:spLocks/>
          </p:cNvSpPr>
          <p:nvPr/>
        </p:nvSpPr>
        <p:spPr>
          <a:xfrm rot="0">
            <a:off x="697557" y="5604272"/>
            <a:ext cx="8345537" cy="74340"/>
          </a:xfrm>
          <a:prstGeom prst="rect"/>
          <a:noFill/>
          <a:ln w="12700" cmpd="sng" cap="flat">
            <a:noFill/>
            <a:prstDash val="solid"/>
            <a:miter/>
          </a:ln>
        </p:spPr>
        <p:txBody>
          <a:bodyPr vert="horz" wrap="none" lIns="0" tIns="0" rIns="0" bIns="0" anchor="t" anchorCtr="0">
            <a:prstTxWarp prst="textNoShape"/>
          </a:bodyPr>
          <a:lstStyle/>
          <a:p>
            <a:pPr marL="0" indent="0" algn="l">
              <a:lnSpc>
                <a:spcPct val="100000"/>
              </a:lnSpc>
              <a:spcBef>
                <a:spcPts val="0"/>
              </a:spcBef>
              <a:spcAft>
                <a:spcPts val="0"/>
              </a:spcAft>
              <a:buNone/>
            </a:pPr>
            <a:r>
              <a:rPr lang="en-US" altLang="zh-CN" sz="45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450" b="0" i="0" u="none" strike="noStrike" kern="1200" cap="none" spc="0" baseline="0">
                <a:solidFill>
                  <a:srgbClr val="000000"/>
                </a:solidFill>
                <a:latin typeface="Tomorrow" pitchFamily="34" charset="0"/>
                <a:ea typeface="Tomorrow" pitchFamily="34" charset="0"/>
                <a:cs typeface="Tomorrow" pitchFamily="34" charset="0"/>
              </a:rPr>
              <a:t> Walk through the before/after comparison. Highlight how RecruitFlow doesn't just speed things up — it makes hiring smarter. Emphasize the human-in-the-loop design: AI assists, humans decide.</a:t>
            </a:r>
            <a:endParaRPr lang="zh-CN" altLang="en-US" sz="45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489889467"/>
      </p:ext>
    </p:extLst>
  </p:cSld>
  <p:clrMapOvr>
    <a:masterClrMapping/>
  </p:clrMapOvr>
</p:sld>
</file>

<file path=ppt/slides/slide4.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57" name="圆角矩形"/>
          <p:cNvSpPr>
            <a:spLocks/>
          </p:cNvSpPr>
          <p:nvPr/>
        </p:nvSpPr>
        <p:spPr>
          <a:xfrm rot="0">
            <a:off x="496119" y="341114"/>
            <a:ext cx="445814" cy="96738"/>
          </a:xfrm>
          <a:prstGeom prst="roundRect">
            <a:avLst>
              <a:gd name="adj" fmla="val 7694"/>
            </a:avLst>
          </a:prstGeom>
          <a:noFill/>
          <a:ln w="12700" cmpd="sng" cap="flat">
            <a:noFill/>
            <a:prstDash val="solid"/>
            <a:miter/>
          </a:ln>
          <a:effectLst>
            <a:outerShdw sx="100000" sy="100000" algn="bl" rotWithShape="0" blurRad="101600" dist="50800" dir="16200000">
              <a:srgbClr val="1D1D1B">
                <a:alpha val="99607"/>
              </a:srgbClr>
            </a:outerShdw>
          </a:effectLst>
        </p:spPr>
      </p:sp>
      <p:sp>
        <p:nvSpPr>
          <p:cNvPr id="58" name="矩形"/>
          <p:cNvSpPr>
            <a:spLocks/>
          </p:cNvSpPr>
          <p:nvPr/>
        </p:nvSpPr>
        <p:spPr>
          <a:xfrm rot="0">
            <a:off x="533326" y="359718"/>
            <a:ext cx="828600" cy="59531"/>
          </a:xfrm>
          <a:prstGeom prst="rect"/>
          <a:noFill/>
          <a:ln w="12700" cmpd="sng" cap="flat">
            <a:noFill/>
            <a:prstDash val="solid"/>
            <a:miter/>
          </a:ln>
        </p:spPr>
        <p:txBody>
          <a:bodyPr vert="horz" wrap="none" lIns="0" tIns="0" rIns="0" bIns="0" anchor="t" anchorCtr="0">
            <a:prstTxWarp prst="textNoShape"/>
          </a:bodyPr>
          <a:lstStyle/>
          <a:p>
            <a:pPr marL="0" indent="0" algn="l">
              <a:lnSpc>
                <a:spcPct val="100000"/>
              </a:lnSpc>
              <a:spcBef>
                <a:spcPts val="0"/>
              </a:spcBef>
              <a:spcAft>
                <a:spcPts val="0"/>
              </a:spcAft>
              <a:buNone/>
            </a:pPr>
            <a:r>
              <a:rPr lang="en-US" altLang="zh-CN" sz="350" b="0" i="0" u="none" strike="noStrike" kern="1200" cap="none" spc="0" baseline="0">
                <a:solidFill>
                  <a:srgbClr val="1D1D1B"/>
                </a:solidFill>
                <a:latin typeface="Tomorrow" pitchFamily="34" charset="0"/>
                <a:ea typeface="Tomorrow" pitchFamily="34" charset="0"/>
                <a:cs typeface="Tomorrow" pitchFamily="34" charset="0"/>
              </a:rPr>
              <a:t>ARCHITECTURE</a:t>
            </a:r>
            <a:endParaRPr lang="zh-CN" altLang="en-US" sz="350" b="0" i="0" u="none" strike="noStrike" kern="1200" cap="none" spc="0" baseline="0">
              <a:solidFill>
                <a:schemeClr val="tx1"/>
              </a:solidFill>
              <a:latin typeface="Calibri" pitchFamily="0" charset="0"/>
              <a:ea typeface="等线" pitchFamily="0" charset="0"/>
              <a:cs typeface="Calibri" pitchFamily="0" charset="0"/>
            </a:endParaRPr>
          </a:p>
        </p:txBody>
      </p:sp>
      <p:sp>
        <p:nvSpPr>
          <p:cNvPr id="59" name="矩形"/>
          <p:cNvSpPr>
            <a:spLocks/>
          </p:cNvSpPr>
          <p:nvPr/>
        </p:nvSpPr>
        <p:spPr>
          <a:xfrm rot="0">
            <a:off x="496119" y="450205"/>
            <a:ext cx="3298626" cy="193848"/>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200" b="0" i="0" u="none" strike="noStrike" kern="1200" cap="none" spc="0" baseline="0">
                <a:solidFill>
                  <a:srgbClr val="1D1D1B"/>
                </a:solidFill>
                <a:latin typeface="Tomorrow SemiBold" pitchFamily="34" charset="0"/>
                <a:ea typeface="Tomorrow SemiBold" pitchFamily="34" charset="0"/>
                <a:cs typeface="Tomorrow SemiBold" pitchFamily="34" charset="0"/>
              </a:rPr>
              <a:t>LangGraph Multi-Agent Architecture</a:t>
            </a:r>
            <a:endParaRPr lang="zh-CN" altLang="en-US" sz="1200" b="0" i="0" u="none" strike="noStrike" kern="1200" cap="none" spc="0" baseline="0">
              <a:solidFill>
                <a:schemeClr val="tx1"/>
              </a:solidFill>
              <a:latin typeface="Calibri" pitchFamily="0" charset="0"/>
              <a:ea typeface="等线" pitchFamily="0" charset="0"/>
              <a:cs typeface="Calibri" pitchFamily="0" charset="0"/>
            </a:endParaRPr>
          </a:p>
        </p:txBody>
      </p:sp>
      <p:sp>
        <p:nvSpPr>
          <p:cNvPr id="60" name="矩形"/>
          <p:cNvSpPr>
            <a:spLocks/>
          </p:cNvSpPr>
          <p:nvPr/>
        </p:nvSpPr>
        <p:spPr>
          <a:xfrm rot="0">
            <a:off x="496119" y="690562"/>
            <a:ext cx="8151763" cy="148678"/>
          </a:xfrm>
          <a:prstGeom prst="rect"/>
          <a:noFill/>
          <a:ln w="12700" cmpd="sng" cap="flat">
            <a:noFill/>
            <a:prstDash val="solid"/>
            <a:miter/>
          </a:ln>
        </p:spPr>
        <p:txBody>
          <a:bodyPr vert="horz" wrap="square" lIns="0" tIns="0" rIns="0" bIns="0" anchor="t" anchorCtr="0">
            <a:prstTxWarp prst="textNoShape"/>
          </a:bodyPr>
          <a:lstStyle/>
          <a:p>
            <a:pPr marL="0" indent="0" algn="l">
              <a:lnSpc>
                <a:spcPct val="100000"/>
              </a:lnSpc>
              <a:spcBef>
                <a:spcPts val="0"/>
              </a:spcBef>
              <a:spcAft>
                <a:spcPts val="0"/>
              </a:spcAft>
              <a:buNone/>
            </a:pPr>
            <a:r>
              <a:rPr lang="en-US" altLang="zh-CN" sz="450" b="0" i="0" u="none" strike="noStrike" kern="1200" cap="none" spc="0" baseline="0">
                <a:solidFill>
                  <a:srgbClr val="61615C"/>
                </a:solidFill>
                <a:latin typeface="Tomorrow" pitchFamily="34" charset="0"/>
                <a:ea typeface="Tomorrow" pitchFamily="34" charset="0"/>
                <a:cs typeface="Tomorrow" pitchFamily="34" charset="0"/>
              </a:rPr>
              <a:t>RecruitFlow AI is built on a </a:t>
            </a:r>
            <a:r>
              <a:rPr lang="en-US" altLang="zh-CN" sz="450" b="1" i="0" u="none" strike="noStrike" kern="1200" cap="none" spc="0" baseline="0">
                <a:solidFill>
                  <a:srgbClr val="61615C"/>
                </a:solidFill>
                <a:latin typeface="Tomorrow Bold" pitchFamily="34" charset="0"/>
                <a:ea typeface="Tomorrow Bold" pitchFamily="34" charset="0"/>
                <a:cs typeface="Tomorrow Bold" pitchFamily="34" charset="0"/>
              </a:rPr>
              <a:t>modular, graph-based agent architecture</a:t>
            </a:r>
            <a:r>
              <a:rPr lang="en-US" altLang="zh-CN" sz="450" b="0" i="0" u="none" strike="noStrike" kern="1200" cap="none" spc="0" baseline="0">
                <a:solidFill>
                  <a:srgbClr val="61615C"/>
                </a:solidFill>
                <a:latin typeface="Tomorrow" pitchFamily="34" charset="0"/>
                <a:ea typeface="Tomorrow" pitchFamily="34" charset="0"/>
                <a:cs typeface="Tomorrow" pitchFamily="34" charset="0"/>
              </a:rPr>
              <a:t> using LangGraph. Each agent operates as an independent AI component, orchestrated through a central router that manages state, memory, and handoffs — enabling complex, multi-step hiring workflows with full traceability.</a:t>
            </a:r>
            <a:endParaRPr lang="zh-CN" altLang="en-US" sz="4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61" name="图片" descr="preencoded.png"/>
          <p:cNvPicPr>
            <a:picLocks noChangeAspect="1"/>
          </p:cNvPicPr>
          <p:nvPr/>
        </p:nvPicPr>
        <p:blipFill>
          <a:blip r:embed="rId1" cstate="print"/>
          <a:stretch>
            <a:fillRect/>
          </a:stretch>
        </p:blipFill>
        <p:spPr>
          <a:xfrm rot="0">
            <a:off x="496119" y="874068"/>
            <a:ext cx="7315200" cy="4114800"/>
          </a:xfrm>
          <a:prstGeom prst="rect"/>
          <a:noFill/>
          <a:ln w="12700" cmpd="sng" cap="flat">
            <a:noFill/>
            <a:prstDash val="solid"/>
            <a:miter/>
          </a:ln>
        </p:spPr>
      </p:pic>
      <p:sp>
        <p:nvSpPr>
          <p:cNvPr id="62" name="矩形"/>
          <p:cNvSpPr>
            <a:spLocks/>
          </p:cNvSpPr>
          <p:nvPr/>
        </p:nvSpPr>
        <p:spPr>
          <a:xfrm rot="0">
            <a:off x="496119" y="5023693"/>
            <a:ext cx="8151763" cy="329728"/>
          </a:xfrm>
          <a:prstGeom prst="rect"/>
          <a:noFill/>
          <a:ln w="12700" cmpd="sng" cap="flat">
            <a:noFill/>
            <a:prstDash val="solid"/>
            <a:miter/>
          </a:ln>
        </p:spPr>
        <p:txBody>
          <a:bodyPr vert="horz" wrap="square" lIns="0" tIns="0" rIns="0" bIns="0" anchor="t" anchorCtr="0">
            <a:prstTxWarp prst="textNoShape"/>
          </a:bodyPr>
          <a:lstStyle/>
          <a:p>
            <a:pPr marL="91440" indent="-91440" algn="l">
              <a:lnSpc>
                <a:spcPct val="100000"/>
              </a:lnSpc>
              <a:spcBef>
                <a:spcPts val="0"/>
              </a:spcBef>
              <a:spcAft>
                <a:spcPts val="0"/>
              </a:spcAft>
              <a:buClrTx/>
              <a:buChar char="•"/>
            </a:pPr>
            <a:r>
              <a:rPr lang="en-US" altLang="zh-CN" sz="450" b="1" i="0" u="none" strike="noStrike" kern="1200" cap="none" spc="0" baseline="0">
                <a:solidFill>
                  <a:srgbClr val="61615C"/>
                </a:solidFill>
                <a:latin typeface="Tomorrow Bold" pitchFamily="34" charset="0"/>
                <a:ea typeface="Tomorrow Bold" pitchFamily="34" charset="0"/>
                <a:cs typeface="Tomorrow Bold" pitchFamily="34" charset="0"/>
              </a:rPr>
              <a:t>Router Agent</a:t>
            </a:r>
            <a:r>
              <a:rPr lang="en-US" altLang="zh-CN" sz="450" b="0" i="0" u="none" strike="noStrike" kern="1200" cap="none" spc="0" baseline="0">
                <a:solidFill>
                  <a:srgbClr val="61615C"/>
                </a:solidFill>
                <a:latin typeface="Tomorrow" pitchFamily="34" charset="0"/>
                <a:ea typeface="Tomorrow" pitchFamily="34" charset="0"/>
                <a:cs typeface="Tomorrow" pitchFamily="34" charset="0"/>
              </a:rPr>
              <a:t> — Directs recruiter intent to the correct specialist agent</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1" i="0" u="none" strike="noStrike" kern="1200" cap="none" spc="0" baseline="0">
                <a:solidFill>
                  <a:srgbClr val="61615C"/>
                </a:solidFill>
                <a:latin typeface="Tomorrow Bold" pitchFamily="34" charset="0"/>
                <a:ea typeface="Tomorrow Bold" pitchFamily="34" charset="0"/>
                <a:cs typeface="Tomorrow Bold" pitchFamily="34" charset="0"/>
              </a:rPr>
              <a:t>Screening Agent</a:t>
            </a:r>
            <a:r>
              <a:rPr lang="en-US" altLang="zh-CN" sz="450" b="0" i="0" u="none" strike="noStrike" kern="1200" cap="none" spc="0" baseline="0">
                <a:solidFill>
                  <a:srgbClr val="61615C"/>
                </a:solidFill>
                <a:latin typeface="Tomorrow" pitchFamily="34" charset="0"/>
                <a:ea typeface="Tomorrow" pitchFamily="34" charset="0"/>
                <a:cs typeface="Tomorrow" pitchFamily="34" charset="0"/>
              </a:rPr>
              <a:t> — Parses resumes and scores candidates against JD criteria</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1" i="0" u="none" strike="noStrike" kern="1200" cap="none" spc="0" baseline="0">
                <a:solidFill>
                  <a:srgbClr val="61615C"/>
                </a:solidFill>
                <a:latin typeface="Tomorrow Bold" pitchFamily="34" charset="0"/>
                <a:ea typeface="Tomorrow Bold" pitchFamily="34" charset="0"/>
                <a:cs typeface="Tomorrow Bold" pitchFamily="34" charset="0"/>
              </a:rPr>
              <a:t>Ranking Agent</a:t>
            </a:r>
            <a:r>
              <a:rPr lang="en-US" altLang="zh-CN" sz="450" b="0" i="0" u="none" strike="noStrike" kern="1200" cap="none" spc="0" baseline="0">
                <a:solidFill>
                  <a:srgbClr val="61615C"/>
                </a:solidFill>
                <a:latin typeface="Tomorrow" pitchFamily="34" charset="0"/>
                <a:ea typeface="Tomorrow" pitchFamily="34" charset="0"/>
                <a:cs typeface="Tomorrow" pitchFamily="34" charset="0"/>
              </a:rPr>
              <a:t> — Ranks candidates by fit, skills, and experience</a:t>
            </a:r>
            <a:endParaRPr lang="en-US" altLang="zh-CN" sz="450" b="0" i="0" u="none" strike="noStrike" kern="1200" cap="none" spc="0" baseline="0">
              <a:solidFill>
                <a:schemeClr val="tx1"/>
              </a:solidFill>
              <a:latin typeface="Calibri" pitchFamily="0" charset="0"/>
              <a:ea typeface="等线" pitchFamily="0" charset="0"/>
              <a:cs typeface="Calibri" pitchFamily="0" charset="0"/>
            </a:endParaRPr>
          </a:p>
          <a:p>
            <a:pPr marL="91440" indent="-91440" algn="l">
              <a:lnSpc>
                <a:spcPct val="100000"/>
              </a:lnSpc>
              <a:spcBef>
                <a:spcPts val="0"/>
              </a:spcBef>
              <a:spcAft>
                <a:spcPts val="0"/>
              </a:spcAft>
              <a:buClrTx/>
              <a:buChar char="•"/>
            </a:pPr>
            <a:r>
              <a:rPr lang="en-US" altLang="zh-CN" sz="450" b="1" i="0" u="none" strike="noStrike" kern="1200" cap="none" spc="0" baseline="0">
                <a:solidFill>
                  <a:srgbClr val="61615C"/>
                </a:solidFill>
                <a:latin typeface="Tomorrow Bold" pitchFamily="34" charset="0"/>
                <a:ea typeface="Tomorrow Bold" pitchFamily="34" charset="0"/>
                <a:cs typeface="Tomorrow Bold" pitchFamily="34" charset="0"/>
              </a:rPr>
              <a:t>Human Approval</a:t>
            </a:r>
            <a:r>
              <a:rPr lang="en-US" altLang="zh-CN" sz="450" b="0" i="0" u="none" strike="noStrike" kern="1200" cap="none" spc="0" baseline="0">
                <a:solidFill>
                  <a:srgbClr val="61615C"/>
                </a:solidFill>
                <a:latin typeface="Tomorrow" pitchFamily="34" charset="0"/>
                <a:ea typeface="Tomorrow" pitchFamily="34" charset="0"/>
                <a:cs typeface="Tomorrow" pitchFamily="34" charset="0"/>
              </a:rPr>
              <a:t> — Recruiter reviews and approves before final shortlist</a:t>
            </a:r>
            <a:endParaRPr lang="zh-CN" altLang="en-US" sz="450" b="0" i="0" u="none" strike="noStrike" kern="1200" cap="none" spc="0" baseline="0">
              <a:solidFill>
                <a:schemeClr val="tx1"/>
              </a:solidFill>
              <a:latin typeface="Calibri" pitchFamily="0" charset="0"/>
              <a:ea typeface="等线" pitchFamily="0" charset="0"/>
              <a:cs typeface="Calibri" pitchFamily="0" charset="0"/>
            </a:endParaRPr>
          </a:p>
        </p:txBody>
      </p:sp>
      <p:sp>
        <p:nvSpPr>
          <p:cNvPr id="63" name="圆角矩形"/>
          <p:cNvSpPr>
            <a:spLocks/>
          </p:cNvSpPr>
          <p:nvPr/>
        </p:nvSpPr>
        <p:spPr>
          <a:xfrm rot="0">
            <a:off x="496119" y="5388248"/>
            <a:ext cx="8151763" cy="169142"/>
          </a:xfrm>
          <a:prstGeom prst="roundRect">
            <a:avLst>
              <a:gd name="adj" fmla="val 5500"/>
            </a:avLst>
          </a:prstGeom>
          <a:solidFill>
            <a:srgbClr val="E6E6E5"/>
          </a:solidFill>
          <a:ln w="12700" cmpd="sng" cap="flat">
            <a:noFill/>
            <a:prstDash val="solid"/>
            <a:miter/>
          </a:ln>
        </p:spPr>
      </p:sp>
      <p:pic>
        <p:nvPicPr>
          <p:cNvPr id="64" name="图片" descr="preencoded.png"/>
          <p:cNvPicPr>
            <a:picLocks noChangeAspect="1"/>
          </p:cNvPicPr>
          <p:nvPr/>
        </p:nvPicPr>
        <p:blipFill>
          <a:blip r:embed="rId2" cstate="print"/>
          <a:stretch>
            <a:fillRect/>
          </a:stretch>
        </p:blipFill>
        <p:spPr>
          <a:xfrm rot="0">
            <a:off x="558105" y="5465713"/>
            <a:ext cx="77464" cy="61987"/>
          </a:xfrm>
          <a:prstGeom prst="rect"/>
          <a:noFill/>
          <a:ln w="12700" cmpd="sng" cap="flat">
            <a:noFill/>
            <a:prstDash val="solid"/>
            <a:miter/>
          </a:ln>
        </p:spPr>
      </p:pic>
      <p:sp>
        <p:nvSpPr>
          <p:cNvPr id="65" name="矩形"/>
          <p:cNvSpPr>
            <a:spLocks/>
          </p:cNvSpPr>
          <p:nvPr/>
        </p:nvSpPr>
        <p:spPr>
          <a:xfrm rot="0">
            <a:off x="697557" y="5434682"/>
            <a:ext cx="8345537" cy="74340"/>
          </a:xfrm>
          <a:prstGeom prst="rect"/>
          <a:noFill/>
          <a:ln w="12700" cmpd="sng" cap="flat">
            <a:noFill/>
            <a:prstDash val="solid"/>
            <a:miter/>
          </a:ln>
        </p:spPr>
        <p:txBody>
          <a:bodyPr vert="horz" wrap="none" lIns="0" tIns="0" rIns="0" bIns="0" anchor="t" anchorCtr="0">
            <a:prstTxWarp prst="textNoShape"/>
          </a:bodyPr>
          <a:lstStyle/>
          <a:p>
            <a:pPr marL="0" indent="0" algn="l">
              <a:lnSpc>
                <a:spcPct val="100000"/>
              </a:lnSpc>
              <a:spcBef>
                <a:spcPts val="0"/>
              </a:spcBef>
              <a:spcAft>
                <a:spcPts val="0"/>
              </a:spcAft>
              <a:buNone/>
            </a:pPr>
            <a:r>
              <a:rPr lang="en-US" altLang="zh-CN" sz="45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450" b="0" i="0" u="none" strike="noStrike" kern="1200" cap="none" spc="0" baseline="0">
                <a:solidFill>
                  <a:srgbClr val="000000"/>
                </a:solidFill>
                <a:latin typeface="Tomorrow" pitchFamily="34" charset="0"/>
                <a:ea typeface="Tomorrow" pitchFamily="34" charset="0"/>
                <a:cs typeface="Tomorrow" pitchFamily="34" charset="0"/>
              </a:rPr>
              <a:t> Explain the graph-based architecture — each agent is independent but connected. Emphasize that LangGraph enables stateful, multi-step workflows with memory. This is what makes RecruitFlow more powerful than a simple chatbot.</a:t>
            </a:r>
            <a:endParaRPr lang="zh-CN" altLang="en-US" sz="45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660215116"/>
      </p:ext>
    </p:extLst>
  </p:cSld>
  <p:clrMapOvr>
    <a:masterClrMapping/>
  </p:clrMapOvr>
</p:sld>
</file>

<file path=ppt/slides/slide5.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68" name="圆角矩形"/>
          <p:cNvSpPr>
            <a:spLocks/>
          </p:cNvSpPr>
          <p:nvPr/>
        </p:nvSpPr>
        <p:spPr>
          <a:xfrm rot="0">
            <a:off x="496119" y="402430"/>
            <a:ext cx="503038" cy="168473"/>
          </a:xfrm>
          <a:prstGeom prst="roundRect">
            <a:avLst>
              <a:gd name="adj" fmla="val 6902"/>
            </a:avLst>
          </a:prstGeom>
          <a:solidFill>
            <a:srgbClr val="E6E6E5"/>
          </a:solidFill>
          <a:ln w="12700" cmpd="sng" cap="flat">
            <a:noFill/>
            <a:prstDash val="solid"/>
            <a:miter/>
          </a:ln>
        </p:spPr>
      </p:sp>
      <p:sp>
        <p:nvSpPr>
          <p:cNvPr id="69" name="矩形"/>
          <p:cNvSpPr>
            <a:spLocks/>
          </p:cNvSpPr>
          <p:nvPr/>
        </p:nvSpPr>
        <p:spPr>
          <a:xfrm rot="0">
            <a:off x="554236" y="431453"/>
            <a:ext cx="844003" cy="110430"/>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600" b="0" i="0" u="none" strike="noStrike" kern="1200" cap="none" spc="0" baseline="0">
                <a:solidFill>
                  <a:srgbClr val="61615C"/>
                </a:solidFill>
                <a:latin typeface="Tomorrow" pitchFamily="34" charset="0"/>
                <a:ea typeface="Tomorrow" pitchFamily="34" charset="0"/>
                <a:cs typeface="Tomorrow" pitchFamily="34" charset="0"/>
              </a:rPr>
              <a:t>FEATURES</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
        <p:nvSpPr>
          <p:cNvPr id="70" name="矩形"/>
          <p:cNvSpPr>
            <a:spLocks/>
          </p:cNvSpPr>
          <p:nvPr/>
        </p:nvSpPr>
        <p:spPr>
          <a:xfrm rot="0">
            <a:off x="496119" y="601117"/>
            <a:ext cx="4811837" cy="30286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900" b="0" i="0" u="none" strike="noStrike" kern="1200" cap="none" spc="0" baseline="0">
                <a:solidFill>
                  <a:srgbClr val="1D1D1B"/>
                </a:solidFill>
                <a:latin typeface="Tomorrow SemiBold" pitchFamily="34" charset="0"/>
                <a:ea typeface="Tomorrow SemiBold" pitchFamily="34" charset="0"/>
                <a:cs typeface="Tomorrow SemiBold" pitchFamily="34" charset="0"/>
              </a:rPr>
              <a:t>Powerful Features, Zero Complexity</a:t>
            </a:r>
            <a:endParaRPr lang="zh-CN" altLang="en-US" sz="1900" b="0" i="0" u="none" strike="noStrike" kern="1200" cap="none" spc="0" baseline="0">
              <a:solidFill>
                <a:schemeClr val="tx1"/>
              </a:solidFill>
              <a:latin typeface="Calibri" pitchFamily="0" charset="0"/>
              <a:ea typeface="等线" pitchFamily="0" charset="0"/>
              <a:cs typeface="Calibri" pitchFamily="0" charset="0"/>
            </a:endParaRPr>
          </a:p>
        </p:txBody>
      </p:sp>
      <p:sp>
        <p:nvSpPr>
          <p:cNvPr id="71" name="矩形"/>
          <p:cNvSpPr>
            <a:spLocks/>
          </p:cNvSpPr>
          <p:nvPr/>
        </p:nvSpPr>
        <p:spPr>
          <a:xfrm rot="0">
            <a:off x="496119" y="1017538"/>
            <a:ext cx="86089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RecruitFlow AI covers the entire recruitment lifecycle — from first upload to final offer — with intelligent, purpose-built features that work together seamlessly.</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72" name="图片" descr="preencoded.png"/>
          <p:cNvPicPr>
            <a:picLocks noChangeAspect="1"/>
          </p:cNvPicPr>
          <p:nvPr/>
        </p:nvPicPr>
        <p:blipFill>
          <a:blip r:embed="rId1" cstate="print"/>
          <a:stretch>
            <a:fillRect/>
          </a:stretch>
        </p:blipFill>
        <p:spPr>
          <a:xfrm rot="0">
            <a:off x="496119" y="1240705"/>
            <a:ext cx="193774" cy="193774"/>
          </a:xfrm>
          <a:prstGeom prst="rect"/>
          <a:noFill/>
          <a:ln w="12700" cmpd="sng" cap="flat">
            <a:noFill/>
            <a:prstDash val="solid"/>
            <a:miter/>
          </a:ln>
        </p:spPr>
      </p:pic>
      <p:sp>
        <p:nvSpPr>
          <p:cNvPr id="73" name="矩形"/>
          <p:cNvSpPr>
            <a:spLocks/>
          </p:cNvSpPr>
          <p:nvPr/>
        </p:nvSpPr>
        <p:spPr>
          <a:xfrm rot="0">
            <a:off x="496119" y="1529059"/>
            <a:ext cx="1211387"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61615C"/>
                </a:solidFill>
                <a:latin typeface="Tomorrow SemiBold" pitchFamily="34" charset="0"/>
                <a:ea typeface="Tomorrow SemiBold" pitchFamily="34" charset="0"/>
                <a:cs typeface="Tomorrow SemiBold" pitchFamily="34" charset="0"/>
              </a:rPr>
              <a:t>Resume Parsing</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74" name="矩形"/>
          <p:cNvSpPr>
            <a:spLocks/>
          </p:cNvSpPr>
          <p:nvPr/>
        </p:nvSpPr>
        <p:spPr>
          <a:xfrm rot="0">
            <a:off x="496119" y="1725885"/>
            <a:ext cx="4028554"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Extracts skills, experience, and qualifications from PDFs instantly</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75" name="图片" descr="preencoded.png"/>
          <p:cNvPicPr>
            <a:picLocks noChangeAspect="1"/>
          </p:cNvPicPr>
          <p:nvPr/>
        </p:nvPicPr>
        <p:blipFill>
          <a:blip r:embed="rId2" cstate="print"/>
          <a:stretch>
            <a:fillRect/>
          </a:stretch>
        </p:blipFill>
        <p:spPr>
          <a:xfrm rot="0">
            <a:off x="4619253" y="1240705"/>
            <a:ext cx="193773" cy="193774"/>
          </a:xfrm>
          <a:prstGeom prst="rect"/>
          <a:noFill/>
          <a:ln w="12700" cmpd="sng" cap="flat">
            <a:noFill/>
            <a:prstDash val="solid"/>
            <a:miter/>
          </a:ln>
        </p:spPr>
      </p:pic>
      <p:sp>
        <p:nvSpPr>
          <p:cNvPr id="76" name="矩形"/>
          <p:cNvSpPr>
            <a:spLocks/>
          </p:cNvSpPr>
          <p:nvPr/>
        </p:nvSpPr>
        <p:spPr>
          <a:xfrm rot="0">
            <a:off x="4619253" y="1529059"/>
            <a:ext cx="1211387"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61615C"/>
                </a:solidFill>
                <a:latin typeface="Tomorrow SemiBold" pitchFamily="34" charset="0"/>
                <a:ea typeface="Tomorrow SemiBold" pitchFamily="34" charset="0"/>
                <a:cs typeface="Tomorrow SemiBold" pitchFamily="34" charset="0"/>
              </a:rPr>
              <a:t>AI Screening</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77" name="矩形"/>
          <p:cNvSpPr>
            <a:spLocks/>
          </p:cNvSpPr>
          <p:nvPr/>
        </p:nvSpPr>
        <p:spPr>
          <a:xfrm rot="0">
            <a:off x="4619253" y="1725885"/>
            <a:ext cx="4028629"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Scores and filters candidates against job description criteria</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78" name="图片" descr="preencoded.png"/>
          <p:cNvPicPr>
            <a:picLocks noChangeAspect="1"/>
          </p:cNvPicPr>
          <p:nvPr/>
        </p:nvPicPr>
        <p:blipFill>
          <a:blip r:embed="rId3" cstate="print"/>
          <a:stretch>
            <a:fillRect/>
          </a:stretch>
        </p:blipFill>
        <p:spPr>
          <a:xfrm rot="0">
            <a:off x="496119" y="2015281"/>
            <a:ext cx="193774" cy="193774"/>
          </a:xfrm>
          <a:prstGeom prst="rect"/>
          <a:noFill/>
          <a:ln w="12700" cmpd="sng" cap="flat">
            <a:noFill/>
            <a:prstDash val="solid"/>
            <a:miter/>
          </a:ln>
        </p:spPr>
      </p:pic>
      <p:sp>
        <p:nvSpPr>
          <p:cNvPr id="79" name="矩形"/>
          <p:cNvSpPr>
            <a:spLocks/>
          </p:cNvSpPr>
          <p:nvPr/>
        </p:nvSpPr>
        <p:spPr>
          <a:xfrm rot="0">
            <a:off x="496119" y="2303636"/>
            <a:ext cx="1211387" cy="151433"/>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61615C"/>
                </a:solidFill>
                <a:latin typeface="Tomorrow SemiBold" pitchFamily="34" charset="0"/>
                <a:ea typeface="Tomorrow SemiBold" pitchFamily="34" charset="0"/>
                <a:cs typeface="Tomorrow SemiBold" pitchFamily="34" charset="0"/>
              </a:rPr>
              <a:t>JD Rewriter</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0" name="矩形"/>
          <p:cNvSpPr>
            <a:spLocks/>
          </p:cNvSpPr>
          <p:nvPr/>
        </p:nvSpPr>
        <p:spPr>
          <a:xfrm rot="0">
            <a:off x="496119" y="2500461"/>
            <a:ext cx="4028554"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Optimizes job descriptions for clarity, inclusivity, and reach</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81" name="图片" descr="preencoded.png"/>
          <p:cNvPicPr>
            <a:picLocks noChangeAspect="1"/>
          </p:cNvPicPr>
          <p:nvPr/>
        </p:nvPicPr>
        <p:blipFill>
          <a:blip r:embed="rId4" cstate="print"/>
          <a:stretch>
            <a:fillRect/>
          </a:stretch>
        </p:blipFill>
        <p:spPr>
          <a:xfrm rot="0">
            <a:off x="4619253" y="2015281"/>
            <a:ext cx="193773" cy="193774"/>
          </a:xfrm>
          <a:prstGeom prst="rect"/>
          <a:noFill/>
          <a:ln w="12700" cmpd="sng" cap="flat">
            <a:noFill/>
            <a:prstDash val="solid"/>
            <a:miter/>
          </a:ln>
        </p:spPr>
      </p:pic>
      <p:sp>
        <p:nvSpPr>
          <p:cNvPr id="82" name="矩形"/>
          <p:cNvSpPr>
            <a:spLocks/>
          </p:cNvSpPr>
          <p:nvPr/>
        </p:nvSpPr>
        <p:spPr>
          <a:xfrm rot="0">
            <a:off x="4619253" y="2303636"/>
            <a:ext cx="1211387" cy="151433"/>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61615C"/>
                </a:solidFill>
                <a:latin typeface="Tomorrow SemiBold" pitchFamily="34" charset="0"/>
                <a:ea typeface="Tomorrow SemiBold" pitchFamily="34" charset="0"/>
                <a:cs typeface="Tomorrow SemiBold" pitchFamily="34" charset="0"/>
              </a:rPr>
              <a:t>Salary Estimator</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3" name="矩形"/>
          <p:cNvSpPr>
            <a:spLocks/>
          </p:cNvSpPr>
          <p:nvPr/>
        </p:nvSpPr>
        <p:spPr>
          <a:xfrm rot="0">
            <a:off x="4619253" y="2500461"/>
            <a:ext cx="4028629"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Real-time market salary benchmarks for informed offers</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84" name="图片" descr="preencoded.png"/>
          <p:cNvPicPr>
            <a:picLocks noChangeAspect="1"/>
          </p:cNvPicPr>
          <p:nvPr/>
        </p:nvPicPr>
        <p:blipFill>
          <a:blip r:embed="rId5" cstate="print"/>
          <a:stretch>
            <a:fillRect/>
          </a:stretch>
        </p:blipFill>
        <p:spPr>
          <a:xfrm rot="0">
            <a:off x="496119" y="2789858"/>
            <a:ext cx="193774" cy="193773"/>
          </a:xfrm>
          <a:prstGeom prst="rect"/>
          <a:noFill/>
          <a:ln w="12700" cmpd="sng" cap="flat">
            <a:noFill/>
            <a:prstDash val="solid"/>
            <a:miter/>
          </a:ln>
        </p:spPr>
      </p:pic>
      <p:sp>
        <p:nvSpPr>
          <p:cNvPr id="85" name="矩形"/>
          <p:cNvSpPr>
            <a:spLocks/>
          </p:cNvSpPr>
          <p:nvPr/>
        </p:nvSpPr>
        <p:spPr>
          <a:xfrm rot="0">
            <a:off x="496119" y="3078212"/>
            <a:ext cx="1242566"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61615C"/>
                </a:solidFill>
                <a:latin typeface="Tomorrow SemiBold" pitchFamily="34" charset="0"/>
                <a:ea typeface="Tomorrow SemiBold" pitchFamily="34" charset="0"/>
                <a:cs typeface="Tomorrow SemiBold" pitchFamily="34" charset="0"/>
              </a:rPr>
              <a:t>Interview Generator</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6" name="矩形"/>
          <p:cNvSpPr>
            <a:spLocks/>
          </p:cNvSpPr>
          <p:nvPr/>
        </p:nvSpPr>
        <p:spPr>
          <a:xfrm rot="0">
            <a:off x="496119" y="3275037"/>
            <a:ext cx="4028554"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Role-specific questions tailored to each candidate's profile</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87" name="图片" descr="preencoded.png"/>
          <p:cNvPicPr>
            <a:picLocks noChangeAspect="1"/>
          </p:cNvPicPr>
          <p:nvPr/>
        </p:nvPicPr>
        <p:blipFill>
          <a:blip r:embed="rId6" cstate="print"/>
          <a:stretch>
            <a:fillRect/>
          </a:stretch>
        </p:blipFill>
        <p:spPr>
          <a:xfrm rot="0">
            <a:off x="4619253" y="2789858"/>
            <a:ext cx="193773" cy="193773"/>
          </a:xfrm>
          <a:prstGeom prst="rect"/>
          <a:noFill/>
          <a:ln w="12700" cmpd="sng" cap="flat">
            <a:noFill/>
            <a:prstDash val="solid"/>
            <a:miter/>
          </a:ln>
        </p:spPr>
      </p:pic>
      <p:sp>
        <p:nvSpPr>
          <p:cNvPr id="88" name="矩形"/>
          <p:cNvSpPr>
            <a:spLocks/>
          </p:cNvSpPr>
          <p:nvPr/>
        </p:nvSpPr>
        <p:spPr>
          <a:xfrm rot="0">
            <a:off x="4619253" y="3078212"/>
            <a:ext cx="1211387"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61615C"/>
                </a:solidFill>
                <a:latin typeface="Tomorrow SemiBold" pitchFamily="34" charset="0"/>
                <a:ea typeface="Tomorrow SemiBold" pitchFamily="34" charset="0"/>
                <a:cs typeface="Tomorrow SemiBold" pitchFamily="34" charset="0"/>
              </a:rPr>
              <a:t>Candidate Ranking</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89" name="矩形"/>
          <p:cNvSpPr>
            <a:spLocks/>
          </p:cNvSpPr>
          <p:nvPr/>
        </p:nvSpPr>
        <p:spPr>
          <a:xfrm rot="0">
            <a:off x="4619253" y="3275037"/>
            <a:ext cx="4028629"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Ranked shortlists with confidence scores and match reasoning</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90" name="图片" descr="preencoded.png"/>
          <p:cNvPicPr>
            <a:picLocks noChangeAspect="1"/>
          </p:cNvPicPr>
          <p:nvPr/>
        </p:nvPicPr>
        <p:blipFill>
          <a:blip r:embed="rId7" cstate="print"/>
          <a:stretch>
            <a:fillRect/>
          </a:stretch>
        </p:blipFill>
        <p:spPr>
          <a:xfrm rot="0">
            <a:off x="496119" y="3564434"/>
            <a:ext cx="193774" cy="193773"/>
          </a:xfrm>
          <a:prstGeom prst="rect"/>
          <a:noFill/>
          <a:ln w="12700" cmpd="sng" cap="flat">
            <a:noFill/>
            <a:prstDash val="solid"/>
            <a:miter/>
          </a:ln>
        </p:spPr>
      </p:pic>
      <p:sp>
        <p:nvSpPr>
          <p:cNvPr id="91" name="矩形"/>
          <p:cNvSpPr>
            <a:spLocks/>
          </p:cNvSpPr>
          <p:nvPr/>
        </p:nvSpPr>
        <p:spPr>
          <a:xfrm rot="0">
            <a:off x="496119" y="3852788"/>
            <a:ext cx="1211387"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61615C"/>
                </a:solidFill>
                <a:latin typeface="Tomorrow SemiBold" pitchFamily="34" charset="0"/>
                <a:ea typeface="Tomorrow SemiBold" pitchFamily="34" charset="0"/>
                <a:cs typeface="Tomorrow SemiBold" pitchFamily="34" charset="0"/>
              </a:rPr>
              <a:t>Human Approval</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92" name="矩形"/>
          <p:cNvSpPr>
            <a:spLocks/>
          </p:cNvSpPr>
          <p:nvPr/>
        </p:nvSpPr>
        <p:spPr>
          <a:xfrm rot="0">
            <a:off x="496119" y="4049612"/>
            <a:ext cx="4028554"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Recruiter reviews and approves every AI recommendation</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93" name="图片" descr="preencoded.png"/>
          <p:cNvPicPr>
            <a:picLocks noChangeAspect="1"/>
          </p:cNvPicPr>
          <p:nvPr/>
        </p:nvPicPr>
        <p:blipFill>
          <a:blip r:embed="rId8" cstate="print"/>
          <a:stretch>
            <a:fillRect/>
          </a:stretch>
        </p:blipFill>
        <p:spPr>
          <a:xfrm rot="0">
            <a:off x="4619253" y="3564434"/>
            <a:ext cx="193773" cy="193773"/>
          </a:xfrm>
          <a:prstGeom prst="rect"/>
          <a:noFill/>
          <a:ln w="12700" cmpd="sng" cap="flat">
            <a:noFill/>
            <a:prstDash val="solid"/>
            <a:miter/>
          </a:ln>
        </p:spPr>
      </p:pic>
      <p:sp>
        <p:nvSpPr>
          <p:cNvPr id="94" name="矩形"/>
          <p:cNvSpPr>
            <a:spLocks/>
          </p:cNvSpPr>
          <p:nvPr/>
        </p:nvSpPr>
        <p:spPr>
          <a:xfrm rot="0">
            <a:off x="4619253" y="3852788"/>
            <a:ext cx="1363935"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61615C"/>
                </a:solidFill>
                <a:latin typeface="Tomorrow SemiBold" pitchFamily="34" charset="0"/>
                <a:ea typeface="Tomorrow SemiBold" pitchFamily="34" charset="0"/>
                <a:cs typeface="Tomorrow SemiBold" pitchFamily="34" charset="0"/>
              </a:rPr>
              <a:t>Conversation Memory</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95" name="矩形"/>
          <p:cNvSpPr>
            <a:spLocks/>
          </p:cNvSpPr>
          <p:nvPr/>
        </p:nvSpPr>
        <p:spPr>
          <a:xfrm rot="0">
            <a:off x="4619253" y="4049612"/>
            <a:ext cx="4028629"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Persistent sessions remember context across the hiring cycle</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96" name="圆角矩形"/>
          <p:cNvSpPr>
            <a:spLocks/>
          </p:cNvSpPr>
          <p:nvPr/>
        </p:nvSpPr>
        <p:spPr>
          <a:xfrm rot="0">
            <a:off x="496119" y="4272781"/>
            <a:ext cx="8151763" cy="468212"/>
          </a:xfrm>
          <a:prstGeom prst="roundRect">
            <a:avLst>
              <a:gd name="adj" fmla="val 3106"/>
            </a:avLst>
          </a:prstGeom>
          <a:solidFill>
            <a:srgbClr val="E6E6E5"/>
          </a:solidFill>
          <a:ln w="12700" cmpd="sng" cap="flat">
            <a:noFill/>
            <a:prstDash val="solid"/>
            <a:miter/>
          </a:ln>
        </p:spPr>
      </p:sp>
      <p:pic>
        <p:nvPicPr>
          <p:cNvPr id="97" name="图片" descr="preencoded.png"/>
          <p:cNvPicPr>
            <a:picLocks noChangeAspect="1"/>
          </p:cNvPicPr>
          <p:nvPr/>
        </p:nvPicPr>
        <p:blipFill>
          <a:blip r:embed="rId9" cstate="print"/>
          <a:stretch>
            <a:fillRect/>
          </a:stretch>
        </p:blipFill>
        <p:spPr>
          <a:xfrm rot="0">
            <a:off x="593006" y="4399508"/>
            <a:ext cx="121071" cy="96887"/>
          </a:xfrm>
          <a:prstGeom prst="rect"/>
          <a:noFill/>
          <a:ln w="12700" cmpd="sng" cap="flat">
            <a:noFill/>
            <a:prstDash val="solid"/>
            <a:miter/>
          </a:ln>
        </p:spPr>
      </p:pic>
      <p:sp>
        <p:nvSpPr>
          <p:cNvPr id="98" name="矩形"/>
          <p:cNvSpPr>
            <a:spLocks/>
          </p:cNvSpPr>
          <p:nvPr/>
        </p:nvSpPr>
        <p:spPr>
          <a:xfrm rot="0">
            <a:off x="810963" y="4372645"/>
            <a:ext cx="7740030" cy="276076"/>
          </a:xfrm>
          <a:prstGeom prst="rect"/>
          <a:noFill/>
          <a:ln w="12700" cmpd="sng" cap="flat">
            <a:noFill/>
            <a:prstDash val="solid"/>
            <a:miter/>
          </a:ln>
        </p:spPr>
        <p:txBody>
          <a:bodyPr vert="horz" wrap="square" lIns="0" tIns="0" rIns="0" bIns="0" anchor="t" anchorCtr="0">
            <a:prstTxWarp prst="textNoShape"/>
          </a:bodyPr>
          <a:lstStyle/>
          <a:p>
            <a:pPr marL="0" indent="0" algn="l">
              <a:lnSpc>
                <a:spcPct val="119000"/>
              </a:lnSpc>
              <a:spcBef>
                <a:spcPts val="0"/>
              </a:spcBef>
              <a:spcAft>
                <a:spcPts val="0"/>
              </a:spcAft>
              <a:buNone/>
            </a:pPr>
            <a:r>
              <a:rPr lang="en-US" altLang="zh-CN" sz="75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750" b="0" i="0" u="none" strike="noStrike" kern="1200" cap="none" spc="0" baseline="0">
                <a:solidFill>
                  <a:srgbClr val="000000"/>
                </a:solidFill>
                <a:latin typeface="Tomorrow" pitchFamily="34" charset="0"/>
                <a:ea typeface="Tomorrow" pitchFamily="34" charset="0"/>
                <a:cs typeface="Tomorrow" pitchFamily="34" charset="0"/>
              </a:rPr>
              <a:t> Walk through 3–4 key features that resonate most with your audience. For recruiters, emphasize screening and ranking. For technical evaluators, highlight the RAG pipeline and conversation memory. Mention that all features are accessible via natural language.</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579340952"/>
      </p:ext>
    </p:extLst>
  </p:cSld>
  <p:clrMapOvr>
    <a:masterClrMapping/>
  </p:clrMapOvr>
</p:sld>
</file>

<file path=ppt/slides/slide6.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01" name="圆角矩形"/>
          <p:cNvSpPr>
            <a:spLocks/>
          </p:cNvSpPr>
          <p:nvPr/>
        </p:nvSpPr>
        <p:spPr>
          <a:xfrm rot="0">
            <a:off x="496119" y="341784"/>
            <a:ext cx="637505" cy="195262"/>
          </a:xfrm>
          <a:prstGeom prst="roundRect">
            <a:avLst>
              <a:gd name="adj" fmla="val 6671"/>
            </a:avLst>
          </a:prstGeom>
          <a:noFill/>
          <a:ln w="12700" cmpd="sng" cap="flat">
            <a:noFill/>
            <a:prstDash val="solid"/>
            <a:miter/>
          </a:ln>
          <a:effectLst>
            <a:outerShdw sx="100000" sy="100000" algn="bl" rotWithShape="0" blurRad="101600" dist="50800" dir="16200000">
              <a:srgbClr val="1D1D1B">
                <a:alpha val="99607"/>
              </a:srgbClr>
            </a:outerShdw>
          </a:effectLst>
        </p:spPr>
      </p:sp>
      <p:sp>
        <p:nvSpPr>
          <p:cNvPr id="102" name="矩形"/>
          <p:cNvSpPr>
            <a:spLocks/>
          </p:cNvSpPr>
          <p:nvPr/>
        </p:nvSpPr>
        <p:spPr>
          <a:xfrm rot="0">
            <a:off x="561231" y="374303"/>
            <a:ext cx="964480" cy="130225"/>
          </a:xfrm>
          <a:prstGeom prst="rect"/>
          <a:noFill/>
          <a:ln w="12700" cmpd="sng" cap="flat">
            <a:noFill/>
            <a:prstDash val="solid"/>
            <a:miter/>
          </a:ln>
        </p:spPr>
        <p:txBody>
          <a:bodyPr vert="horz" wrap="none" lIns="0" tIns="0" rIns="0" bIns="0" anchor="t" anchorCtr="0">
            <a:prstTxWarp prst="textNoShape"/>
          </a:bodyPr>
          <a:lstStyle/>
          <a:p>
            <a:pPr marL="0" indent="0" algn="l">
              <a:lnSpc>
                <a:spcPct val="125000"/>
              </a:lnSpc>
              <a:spcBef>
                <a:spcPts val="0"/>
              </a:spcBef>
              <a:spcAft>
                <a:spcPts val="0"/>
              </a:spcAft>
              <a:buNone/>
            </a:pPr>
            <a:r>
              <a:rPr lang="en-US" altLang="zh-CN" sz="650" b="0" i="0" u="none" strike="noStrike" kern="1200" cap="none" spc="0" baseline="0">
                <a:solidFill>
                  <a:srgbClr val="1D1D1B"/>
                </a:solidFill>
                <a:latin typeface="Tomorrow" pitchFamily="34" charset="0"/>
                <a:ea typeface="Tomorrow" pitchFamily="34" charset="0"/>
                <a:cs typeface="Tomorrow" pitchFamily="34" charset="0"/>
              </a:rPr>
              <a:t>TECH STACK</a:t>
            </a:r>
            <a:endParaRPr lang="zh-CN" altLang="en-US" sz="6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3" name="矩形"/>
          <p:cNvSpPr>
            <a:spLocks/>
          </p:cNvSpPr>
          <p:nvPr/>
        </p:nvSpPr>
        <p:spPr>
          <a:xfrm rot="0">
            <a:off x="496119" y="574997"/>
            <a:ext cx="5096694" cy="33917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2100" b="0" i="0" u="none" strike="noStrike" kern="1200" cap="none" spc="0" baseline="0">
                <a:solidFill>
                  <a:srgbClr val="1D1D1B"/>
                </a:solidFill>
                <a:latin typeface="Tomorrow SemiBold" pitchFamily="34" charset="0"/>
                <a:ea typeface="Tomorrow SemiBold" pitchFamily="34" charset="0"/>
                <a:cs typeface="Tomorrow SemiBold" pitchFamily="34" charset="0"/>
              </a:rPr>
              <a:t>Built on Best-in-Class Technology</a:t>
            </a:r>
            <a:endParaRPr lang="zh-CN" altLang="en-US" sz="2100" b="0" i="0" u="none" strike="noStrike" kern="1200" cap="none" spc="0" baseline="0">
              <a:solidFill>
                <a:schemeClr val="tx1"/>
              </a:solidFill>
              <a:latin typeface="Calibri" pitchFamily="0" charset="0"/>
              <a:ea typeface="等线" pitchFamily="0" charset="0"/>
              <a:cs typeface="Calibri" pitchFamily="0" charset="0"/>
            </a:endParaRPr>
          </a:p>
        </p:txBody>
      </p:sp>
      <p:sp>
        <p:nvSpPr>
          <p:cNvPr id="104" name="矩形"/>
          <p:cNvSpPr>
            <a:spLocks/>
          </p:cNvSpPr>
          <p:nvPr/>
        </p:nvSpPr>
        <p:spPr>
          <a:xfrm rot="0">
            <a:off x="496119" y="1056605"/>
            <a:ext cx="8151763" cy="325636"/>
          </a:xfrm>
          <a:prstGeom prst="rect"/>
          <a:noFill/>
          <a:ln w="12700" cmpd="sng" cap="flat">
            <a:noFill/>
            <a:prstDash val="solid"/>
            <a:miter/>
          </a:ln>
        </p:spPr>
        <p:txBody>
          <a:bodyPr vert="horz" wrap="square" lIns="0" tIns="0" rIns="0" bIns="0" anchor="t" anchorCtr="0">
            <a:prstTxWarp prst="textNoShape"/>
          </a:bodyPr>
          <a:lstStyle/>
          <a:p>
            <a:pPr marL="0" indent="0" algn="l">
              <a:lnSpc>
                <a:spcPct val="125000"/>
              </a:lnSpc>
              <a:spcBef>
                <a:spcPts val="0"/>
              </a:spcBef>
              <a:spcAft>
                <a:spcPts val="0"/>
              </a:spcAft>
              <a:buNone/>
            </a:pPr>
            <a:r>
              <a:rPr lang="en-US" altLang="zh-CN" sz="850" b="0" i="0" u="none" strike="noStrike" kern="1200" cap="none" spc="0" baseline="0">
                <a:solidFill>
                  <a:srgbClr val="61615C"/>
                </a:solidFill>
                <a:latin typeface="Tomorrow" pitchFamily="34" charset="0"/>
                <a:ea typeface="Tomorrow" pitchFamily="34" charset="0"/>
                <a:cs typeface="Tomorrow" pitchFamily="34" charset="0"/>
              </a:rPr>
              <a:t>RecruitFlow AI leverages a modern, production-ready stack — combining the power of large language models, vector search, and robust backend frameworks to deliver a reliable, scalable recruitment platform.</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5" name="圆角矩形"/>
          <p:cNvSpPr>
            <a:spLocks/>
          </p:cNvSpPr>
          <p:nvPr/>
        </p:nvSpPr>
        <p:spPr>
          <a:xfrm rot="0">
            <a:off x="417984" y="1489025"/>
            <a:ext cx="4099768" cy="2645718"/>
          </a:xfrm>
          <a:prstGeom prst="roundRect">
            <a:avLst>
              <a:gd name="adj" fmla="val 615"/>
            </a:avLst>
          </a:prstGeom>
          <a:solidFill>
            <a:srgbClr val="1D1D1B"/>
          </a:solidFill>
          <a:ln w="12700" cmpd="sng" cap="flat">
            <a:noFill/>
            <a:prstDash val="solid"/>
            <a:miter/>
          </a:ln>
        </p:spPr>
      </p:sp>
      <p:sp>
        <p:nvSpPr>
          <p:cNvPr id="106" name="矩形"/>
          <p:cNvSpPr>
            <a:spLocks/>
          </p:cNvSpPr>
          <p:nvPr/>
        </p:nvSpPr>
        <p:spPr>
          <a:xfrm rot="0">
            <a:off x="526479" y="1583978"/>
            <a:ext cx="1813917" cy="16951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050" b="0" i="0" u="none" strike="noStrike" kern="1200" cap="none" spc="0" baseline="0">
                <a:solidFill>
                  <a:srgbClr val="FFFFFF"/>
                </a:solidFill>
                <a:latin typeface="Tomorrow SemiBold" pitchFamily="34" charset="0"/>
                <a:ea typeface="Tomorrow SemiBold" pitchFamily="34" charset="0"/>
                <a:cs typeface="Tomorrow SemiBold" pitchFamily="34" charset="0"/>
              </a:rPr>
              <a:t>AI &amp; LLMs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7" name="矩形"/>
          <p:cNvSpPr>
            <a:spLocks/>
          </p:cNvSpPr>
          <p:nvPr/>
        </p:nvSpPr>
        <p:spPr>
          <a:xfrm rot="0">
            <a:off x="526479" y="1848444"/>
            <a:ext cx="3882777" cy="946845"/>
          </a:xfrm>
          <a:prstGeom prst="rect"/>
          <a:noFill/>
          <a:ln w="12700" cmpd="sng" cap="flat">
            <a:noFill/>
            <a:prstDash val="solid"/>
            <a:miter/>
          </a:ln>
        </p:spPr>
        <p:txBody>
          <a:bodyPr vert="horz" wrap="square" lIns="0" tIns="0" rIns="0" bIns="0" anchor="t" anchorCtr="0">
            <a:prstTxWarp prst="textNoShape"/>
          </a:bodyPr>
          <a:lstStyle/>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Google Gemini — multimodal reasoning</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Groq — ultra-fast inference</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LangChain — agent orchestration</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LangGraph — workflow graphs</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Tavily — real-time web search</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8" name="矩形"/>
          <p:cNvSpPr>
            <a:spLocks/>
          </p:cNvSpPr>
          <p:nvPr/>
        </p:nvSpPr>
        <p:spPr>
          <a:xfrm rot="0">
            <a:off x="526479" y="2890242"/>
            <a:ext cx="2103312" cy="16951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050" b="0" i="0" u="none" strike="noStrike" kern="1200" cap="none" spc="0" baseline="0">
                <a:solidFill>
                  <a:srgbClr val="FFFFFF"/>
                </a:solidFill>
                <a:latin typeface="Tomorrow SemiBold" pitchFamily="34" charset="0"/>
                <a:ea typeface="Tomorrow SemiBold" pitchFamily="34" charset="0"/>
                <a:cs typeface="Tomorrow SemiBold" pitchFamily="34" charset="0"/>
              </a:rPr>
              <a:t>Backend &amp; Frameworks</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109" name="矩形"/>
          <p:cNvSpPr>
            <a:spLocks/>
          </p:cNvSpPr>
          <p:nvPr/>
        </p:nvSpPr>
        <p:spPr>
          <a:xfrm rot="0">
            <a:off x="526479" y="3154710"/>
            <a:ext cx="3882777" cy="946844"/>
          </a:xfrm>
          <a:prstGeom prst="rect"/>
          <a:noFill/>
          <a:ln w="12700" cmpd="sng" cap="flat">
            <a:noFill/>
            <a:prstDash val="solid"/>
            <a:miter/>
          </a:ln>
        </p:spPr>
        <p:txBody>
          <a:bodyPr vert="horz" wrap="square" lIns="0" tIns="0" rIns="0" bIns="0" anchor="t" anchorCtr="0">
            <a:prstTxWarp prst="textNoShape"/>
          </a:bodyPr>
          <a:lstStyle/>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Python — core language</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Flask — REST API layer</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Pydantic — data validation</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PyMuPDF — PDF parsing</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FFFFFF"/>
                </a:solidFill>
                <a:latin typeface="Tomorrow" pitchFamily="34" charset="0"/>
                <a:ea typeface="Tomorrow" pitchFamily="34" charset="0"/>
                <a:cs typeface="Tomorrow" pitchFamily="34" charset="0"/>
              </a:rPr>
              <a:t>Dotenv — config management</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0" name="矩形"/>
          <p:cNvSpPr>
            <a:spLocks/>
          </p:cNvSpPr>
          <p:nvPr/>
        </p:nvSpPr>
        <p:spPr>
          <a:xfrm rot="0">
            <a:off x="4709145" y="1583978"/>
            <a:ext cx="1813917" cy="16951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050" b="0" i="0" u="none" strike="noStrike" kern="1200" cap="none" spc="0" baseline="0">
                <a:solidFill>
                  <a:srgbClr val="1D1D1B"/>
                </a:solidFill>
                <a:latin typeface="Tomorrow SemiBold" pitchFamily="34" charset="0"/>
                <a:ea typeface="Tomorrow SemiBold" pitchFamily="34" charset="0"/>
                <a:cs typeface="Tomorrow SemiBold" pitchFamily="34" charset="0"/>
              </a:rPr>
              <a:t>Database &amp; Search</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1" name="矩形"/>
          <p:cNvSpPr>
            <a:spLocks/>
          </p:cNvSpPr>
          <p:nvPr/>
        </p:nvSpPr>
        <p:spPr>
          <a:xfrm rot="0">
            <a:off x="4709145" y="1848444"/>
            <a:ext cx="3943498" cy="358824"/>
          </a:xfrm>
          <a:prstGeom prst="rect"/>
          <a:noFill/>
          <a:ln w="12700" cmpd="sng" cap="flat">
            <a:noFill/>
            <a:prstDash val="solid"/>
            <a:miter/>
          </a:ln>
        </p:spPr>
        <p:txBody>
          <a:bodyPr vert="horz" wrap="square" lIns="0" tIns="0" rIns="0" bIns="0" anchor="t" anchorCtr="0">
            <a:prstTxWarp prst="textNoShape"/>
          </a:bodyPr>
          <a:lstStyle/>
          <a:p>
            <a:pPr marL="172720" indent="-172720" algn="l">
              <a:lnSpc>
                <a:spcPct val="125000"/>
              </a:lnSpc>
              <a:spcBef>
                <a:spcPts val="0"/>
              </a:spcBef>
              <a:spcAft>
                <a:spcPts val="0"/>
              </a:spcAft>
              <a:buClrTx/>
              <a:buChar char="•"/>
            </a:pPr>
            <a:r>
              <a:rPr lang="en-US" altLang="zh-CN" sz="850" b="0" i="0" u="none" strike="noStrike" kern="1200" cap="none" spc="0" baseline="0">
                <a:solidFill>
                  <a:srgbClr val="61615C"/>
                </a:solidFill>
                <a:latin typeface="Tomorrow" pitchFamily="34" charset="0"/>
                <a:ea typeface="Tomorrow" pitchFamily="34" charset="0"/>
                <a:cs typeface="Tomorrow" pitchFamily="34" charset="0"/>
              </a:rPr>
              <a:t>ChromaDB — vector embeddings</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61615C"/>
                </a:solidFill>
                <a:latin typeface="Tomorrow" pitchFamily="34" charset="0"/>
                <a:ea typeface="Tomorrow" pitchFamily="34" charset="0"/>
                <a:cs typeface="Tomorrow" pitchFamily="34" charset="0"/>
              </a:rPr>
              <a:t>Resume RAG — semantic retrieval</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2" name="矩形"/>
          <p:cNvSpPr>
            <a:spLocks/>
          </p:cNvSpPr>
          <p:nvPr/>
        </p:nvSpPr>
        <p:spPr>
          <a:xfrm rot="0">
            <a:off x="4709145" y="2302222"/>
            <a:ext cx="2005310" cy="169515"/>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050" b="0" i="0" u="none" strike="noStrike" kern="1200" cap="none" spc="0" baseline="0">
                <a:solidFill>
                  <a:srgbClr val="1D1D1B"/>
                </a:solidFill>
                <a:latin typeface="Tomorrow SemiBold" pitchFamily="34" charset="0"/>
                <a:ea typeface="Tomorrow SemiBold" pitchFamily="34" charset="0"/>
                <a:cs typeface="Tomorrow SemiBold" pitchFamily="34" charset="0"/>
              </a:rPr>
              <a:t>DevOps &amp; Deployment</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3" name="矩形"/>
          <p:cNvSpPr>
            <a:spLocks/>
          </p:cNvSpPr>
          <p:nvPr/>
        </p:nvSpPr>
        <p:spPr>
          <a:xfrm rot="0">
            <a:off x="4709145" y="2566690"/>
            <a:ext cx="3943498" cy="554830"/>
          </a:xfrm>
          <a:prstGeom prst="rect"/>
          <a:noFill/>
          <a:ln w="12700" cmpd="sng" cap="flat">
            <a:noFill/>
            <a:prstDash val="solid"/>
            <a:miter/>
          </a:ln>
        </p:spPr>
        <p:txBody>
          <a:bodyPr vert="horz" wrap="square" lIns="0" tIns="0" rIns="0" bIns="0" anchor="t" anchorCtr="0">
            <a:prstTxWarp prst="textNoShape"/>
          </a:bodyPr>
          <a:lstStyle/>
          <a:p>
            <a:pPr marL="172720" indent="-172720" algn="l">
              <a:lnSpc>
                <a:spcPct val="125000"/>
              </a:lnSpc>
              <a:spcBef>
                <a:spcPts val="0"/>
              </a:spcBef>
              <a:spcAft>
                <a:spcPts val="0"/>
              </a:spcAft>
              <a:buClrTx/>
              <a:buChar char="•"/>
            </a:pPr>
            <a:r>
              <a:rPr lang="en-US" altLang="zh-CN" sz="850" b="0" i="0" u="none" strike="noStrike" kern="1200" cap="none" spc="0" baseline="0">
                <a:solidFill>
                  <a:srgbClr val="61615C"/>
                </a:solidFill>
                <a:latin typeface="Tomorrow" pitchFamily="34" charset="0"/>
                <a:ea typeface="Tomorrow" pitchFamily="34" charset="0"/>
                <a:cs typeface="Tomorrow" pitchFamily="34" charset="0"/>
              </a:rPr>
              <a:t>GitHub — version control &amp; CI/CD</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61615C"/>
                </a:solidFill>
                <a:latin typeface="Tomorrow" pitchFamily="34" charset="0"/>
                <a:ea typeface="Tomorrow" pitchFamily="34" charset="0"/>
                <a:cs typeface="Tomorrow" pitchFamily="34" charset="0"/>
              </a:rPr>
              <a:t>Docker — containerization</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61615C"/>
                </a:solidFill>
                <a:latin typeface="Tomorrow" pitchFamily="34" charset="0"/>
                <a:ea typeface="Tomorrow" pitchFamily="34" charset="0"/>
                <a:cs typeface="Tomorrow" pitchFamily="34" charset="0"/>
              </a:rPr>
              <a:t>Cloud-ready architecture</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4" name="矩形"/>
          <p:cNvSpPr>
            <a:spLocks/>
          </p:cNvSpPr>
          <p:nvPr/>
        </p:nvSpPr>
        <p:spPr>
          <a:xfrm rot="0">
            <a:off x="4709145" y="3216473"/>
            <a:ext cx="1813917" cy="16951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050" b="0" i="0" u="none" strike="noStrike" kern="1200" cap="none" spc="0" baseline="0">
                <a:solidFill>
                  <a:srgbClr val="1D1D1B"/>
                </a:solidFill>
                <a:latin typeface="Tomorrow SemiBold" pitchFamily="34" charset="0"/>
                <a:ea typeface="Tomorrow SemiBold" pitchFamily="34" charset="0"/>
                <a:cs typeface="Tomorrow SemiBold" pitchFamily="34" charset="0"/>
              </a:rPr>
              <a:t>Frontend</a:t>
            </a:r>
            <a:endParaRPr lang="zh-CN" altLang="en-US" sz="10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5" name="矩形"/>
          <p:cNvSpPr>
            <a:spLocks/>
          </p:cNvSpPr>
          <p:nvPr/>
        </p:nvSpPr>
        <p:spPr>
          <a:xfrm rot="0">
            <a:off x="4709145" y="3480941"/>
            <a:ext cx="3943498" cy="358824"/>
          </a:xfrm>
          <a:prstGeom prst="rect"/>
          <a:noFill/>
          <a:ln w="12700" cmpd="sng" cap="flat">
            <a:noFill/>
            <a:prstDash val="solid"/>
            <a:miter/>
          </a:ln>
        </p:spPr>
        <p:txBody>
          <a:bodyPr vert="horz" wrap="square" lIns="0" tIns="0" rIns="0" bIns="0" anchor="t" anchorCtr="0">
            <a:prstTxWarp prst="textNoShape"/>
          </a:bodyPr>
          <a:lstStyle/>
          <a:p>
            <a:pPr marL="172720" indent="-172720" algn="l">
              <a:lnSpc>
                <a:spcPct val="125000"/>
              </a:lnSpc>
              <a:spcBef>
                <a:spcPts val="0"/>
              </a:spcBef>
              <a:spcAft>
                <a:spcPts val="0"/>
              </a:spcAft>
              <a:buClrTx/>
              <a:buChar char="•"/>
            </a:pPr>
            <a:r>
              <a:rPr lang="en-US" altLang="zh-CN" sz="850" b="0" i="0" u="none" strike="noStrike" kern="1200" cap="none" spc="0" baseline="0">
                <a:solidFill>
                  <a:srgbClr val="61615C"/>
                </a:solidFill>
                <a:latin typeface="Tomorrow" pitchFamily="34" charset="0"/>
                <a:ea typeface="Tomorrow" pitchFamily="34" charset="0"/>
                <a:cs typeface="Tomorrow" pitchFamily="34" charset="0"/>
              </a:rPr>
              <a:t>Responsive web interface</a:t>
            </a:r>
            <a:endParaRPr lang="en-US" altLang="zh-CN" sz="850" b="0" i="0" u="none" strike="noStrike" kern="1200" cap="none" spc="0" baseline="0">
              <a:solidFill>
                <a:schemeClr val="tx1"/>
              </a:solidFill>
              <a:latin typeface="Calibri" pitchFamily="0" charset="0"/>
              <a:ea typeface="等线" pitchFamily="0" charset="0"/>
              <a:cs typeface="Calibri" pitchFamily="0" charset="0"/>
            </a:endParaRPr>
          </a:p>
          <a:p>
            <a:pPr marL="172720" indent="-172720" algn="l">
              <a:lnSpc>
                <a:spcPct val="125000"/>
              </a:lnSpc>
              <a:spcBef>
                <a:spcPts val="0"/>
              </a:spcBef>
              <a:spcAft>
                <a:spcPts val="0"/>
              </a:spcAft>
              <a:buClrTx/>
              <a:buChar char="•"/>
            </a:pPr>
            <a:r>
              <a:rPr lang="en-US" altLang="zh-CN" sz="850" b="0" i="0" u="none" strike="noStrike" kern="1200" cap="none" spc="0" baseline="0">
                <a:solidFill>
                  <a:srgbClr val="61615C"/>
                </a:solidFill>
                <a:latin typeface="Tomorrow" pitchFamily="34" charset="0"/>
                <a:ea typeface="Tomorrow" pitchFamily="34" charset="0"/>
                <a:cs typeface="Tomorrow" pitchFamily="34" charset="0"/>
              </a:rPr>
              <a:t>Conversational UI design</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116" name="圆角矩形"/>
          <p:cNvSpPr>
            <a:spLocks/>
          </p:cNvSpPr>
          <p:nvPr/>
        </p:nvSpPr>
        <p:spPr>
          <a:xfrm rot="0">
            <a:off x="496119" y="4241527"/>
            <a:ext cx="8151763" cy="560189"/>
          </a:xfrm>
          <a:prstGeom prst="roundRect">
            <a:avLst>
              <a:gd name="adj" fmla="val 2907"/>
            </a:avLst>
          </a:prstGeom>
          <a:solidFill>
            <a:srgbClr val="E6E6E5"/>
          </a:solidFill>
          <a:ln w="12700" cmpd="sng" cap="flat">
            <a:noFill/>
            <a:prstDash val="solid"/>
            <a:miter/>
          </a:ln>
        </p:spPr>
      </p:sp>
      <p:pic>
        <p:nvPicPr>
          <p:cNvPr id="117" name="图片" descr="preencoded.png"/>
          <p:cNvPicPr>
            <a:picLocks noChangeAspect="1"/>
          </p:cNvPicPr>
          <p:nvPr/>
        </p:nvPicPr>
        <p:blipFill>
          <a:blip r:embed="rId1" cstate="print"/>
          <a:stretch>
            <a:fillRect/>
          </a:stretch>
        </p:blipFill>
        <p:spPr>
          <a:xfrm rot="0">
            <a:off x="604614" y="4391695"/>
            <a:ext cx="135657" cy="108496"/>
          </a:xfrm>
          <a:prstGeom prst="rect"/>
          <a:noFill/>
          <a:ln w="12700" cmpd="sng" cap="flat">
            <a:noFill/>
            <a:prstDash val="solid"/>
            <a:miter/>
          </a:ln>
        </p:spPr>
      </p:pic>
      <p:sp>
        <p:nvSpPr>
          <p:cNvPr id="118" name="矩形"/>
          <p:cNvSpPr>
            <a:spLocks/>
          </p:cNvSpPr>
          <p:nvPr/>
        </p:nvSpPr>
        <p:spPr>
          <a:xfrm rot="0">
            <a:off x="848767" y="4363566"/>
            <a:ext cx="7690619" cy="325635"/>
          </a:xfrm>
          <a:prstGeom prst="rect"/>
          <a:noFill/>
          <a:ln w="12700" cmpd="sng" cap="flat">
            <a:noFill/>
            <a:prstDash val="solid"/>
            <a:miter/>
          </a:ln>
        </p:spPr>
        <p:txBody>
          <a:bodyPr vert="horz" wrap="square" lIns="0" tIns="0" rIns="0" bIns="0" anchor="t" anchorCtr="0">
            <a:prstTxWarp prst="textNoShape"/>
          </a:bodyPr>
          <a:lstStyle/>
          <a:p>
            <a:pPr marL="0" indent="0" algn="l">
              <a:lnSpc>
                <a:spcPct val="125000"/>
              </a:lnSpc>
              <a:spcBef>
                <a:spcPts val="0"/>
              </a:spcBef>
              <a:spcAft>
                <a:spcPts val="0"/>
              </a:spcAft>
              <a:buNone/>
            </a:pPr>
            <a:r>
              <a:rPr lang="en-US" altLang="zh-CN" sz="85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850" b="0" i="0" u="none" strike="noStrike" kern="1200" cap="none" spc="0" baseline="0">
                <a:solidFill>
                  <a:srgbClr val="000000"/>
                </a:solidFill>
                <a:latin typeface="Tomorrow" pitchFamily="34" charset="0"/>
                <a:ea typeface="Tomorrow" pitchFamily="34" charset="0"/>
                <a:cs typeface="Tomorrow" pitchFamily="34" charset="0"/>
              </a:rPr>
              <a:t> For technical audiences, emphasize why each technology was chosen. Groq for speed, Gemini for reasoning, ChromaDB for semantic search. Mention that the stack is modular — components can be swapped as better tools emerge.</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857004605"/>
      </p:ext>
    </p:extLst>
  </p:cSld>
  <p:clrMapOvr>
    <a:masterClrMapping/>
  </p:clrMapOvr>
</p:sld>
</file>

<file path=ppt/slides/slide7.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21" name="圆角矩形"/>
          <p:cNvSpPr>
            <a:spLocks/>
          </p:cNvSpPr>
          <p:nvPr/>
        </p:nvSpPr>
        <p:spPr>
          <a:xfrm rot="0">
            <a:off x="496119" y="351159"/>
            <a:ext cx="650528" cy="218554"/>
          </a:xfrm>
          <a:prstGeom prst="roundRect">
            <a:avLst>
              <a:gd name="adj" fmla="val 6490"/>
            </a:avLst>
          </a:prstGeom>
          <a:solidFill>
            <a:srgbClr val="E6E6E5"/>
          </a:solidFill>
          <a:ln w="12700" cmpd="sng" cap="flat">
            <a:noFill/>
            <a:prstDash val="solid"/>
            <a:miter/>
          </a:ln>
        </p:spPr>
      </p:sp>
      <p:sp>
        <p:nvSpPr>
          <p:cNvPr id="122" name="矩形"/>
          <p:cNvSpPr>
            <a:spLocks/>
          </p:cNvSpPr>
          <p:nvPr/>
        </p:nvSpPr>
        <p:spPr>
          <a:xfrm rot="0">
            <a:off x="567035" y="386581"/>
            <a:ext cx="965895" cy="147711"/>
          </a:xfrm>
          <a:prstGeom prst="rect"/>
          <a:noFill/>
          <a:ln w="12700" cmpd="sng" cap="flat">
            <a:noFill/>
            <a:prstDash val="solid"/>
            <a:miter/>
          </a:ln>
        </p:spPr>
        <p:txBody>
          <a:bodyPr vert="horz" wrap="none" lIns="0" tIns="0" rIns="0" bIns="0" anchor="t" anchorCtr="0">
            <a:prstTxWarp prst="textNoShape"/>
          </a:bodyPr>
          <a:lstStyle/>
          <a:p>
            <a:pPr marL="0" indent="0" algn="l">
              <a:lnSpc>
                <a:spcPct val="129999"/>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LIVE DEMO</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3" name="矩形"/>
          <p:cNvSpPr>
            <a:spLocks/>
          </p:cNvSpPr>
          <p:nvPr/>
        </p:nvSpPr>
        <p:spPr>
          <a:xfrm rot="0">
            <a:off x="496119" y="614734"/>
            <a:ext cx="6103590" cy="369466"/>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2300" b="0" i="0" u="none" strike="noStrike" kern="1200" cap="none" spc="0" baseline="0">
                <a:solidFill>
                  <a:srgbClr val="1D1D1B"/>
                </a:solidFill>
                <a:latin typeface="Tomorrow SemiBold" pitchFamily="34" charset="0"/>
                <a:ea typeface="Tomorrow SemiBold" pitchFamily="34" charset="0"/>
                <a:cs typeface="Tomorrow SemiBold" pitchFamily="34" charset="0"/>
              </a:rPr>
              <a:t>From Upload to Shortlist — In Minutes</a:t>
            </a:r>
            <a:endParaRPr lang="zh-CN" altLang="en-US" sz="23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4" name="矩形"/>
          <p:cNvSpPr>
            <a:spLocks/>
          </p:cNvSpPr>
          <p:nvPr/>
        </p:nvSpPr>
        <p:spPr>
          <a:xfrm rot="0">
            <a:off x="496119" y="1153195"/>
            <a:ext cx="8151763" cy="369390"/>
          </a:xfrm>
          <a:prstGeom prst="rect"/>
          <a:noFill/>
          <a:ln w="12700" cmpd="sng" cap="flat">
            <a:noFill/>
            <a:prstDash val="solid"/>
            <a:miter/>
          </a:ln>
        </p:spPr>
        <p:txBody>
          <a:bodyPr vert="horz" wrap="square" lIns="0" tIns="0" rIns="0" bIns="0" anchor="t" anchorCtr="0">
            <a:prstTxWarp prst="textNoShape"/>
          </a:bodyPr>
          <a:lstStyle/>
          <a:p>
            <a:pPr marL="0" indent="0" algn="l">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The recruiter journey is entirely conversational. Upload a job description, feed in resumes, and let RecruitFlow AI handle the rest — with human approval at every critical step.</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25" name="圆角矩形"/>
          <p:cNvSpPr>
            <a:spLocks/>
          </p:cNvSpPr>
          <p:nvPr/>
        </p:nvSpPr>
        <p:spPr>
          <a:xfrm rot="0">
            <a:off x="496119" y="2743870"/>
            <a:ext cx="8151763" cy="14287"/>
          </a:xfrm>
          <a:prstGeom prst="roundRect">
            <a:avLst>
              <a:gd name="adj" fmla="val 124125"/>
            </a:avLst>
          </a:prstGeom>
          <a:solidFill>
            <a:srgbClr val="D6D0D0"/>
          </a:solidFill>
          <a:ln w="12700" cmpd="sng" cap="flat">
            <a:noFill/>
            <a:prstDash val="solid"/>
            <a:miter/>
          </a:ln>
        </p:spPr>
      </p:sp>
      <p:sp>
        <p:nvSpPr>
          <p:cNvPr id="126" name="圆角矩形"/>
          <p:cNvSpPr>
            <a:spLocks/>
          </p:cNvSpPr>
          <p:nvPr/>
        </p:nvSpPr>
        <p:spPr>
          <a:xfrm rot="0">
            <a:off x="1339973" y="2389212"/>
            <a:ext cx="14288" cy="354656"/>
          </a:xfrm>
          <a:prstGeom prst="roundRect">
            <a:avLst>
              <a:gd name="adj" fmla="val 124125"/>
            </a:avLst>
          </a:prstGeom>
          <a:solidFill>
            <a:srgbClr val="D6D0D0"/>
          </a:solidFill>
          <a:ln w="12700" cmpd="sng" cap="flat">
            <a:noFill/>
            <a:prstDash val="solid"/>
            <a:miter/>
          </a:ln>
        </p:spPr>
      </p:sp>
      <p:sp>
        <p:nvSpPr>
          <p:cNvPr id="127" name="圆角矩形"/>
          <p:cNvSpPr>
            <a:spLocks/>
          </p:cNvSpPr>
          <p:nvPr/>
        </p:nvSpPr>
        <p:spPr>
          <a:xfrm rot="0">
            <a:off x="1214140" y="2610892"/>
            <a:ext cx="265955" cy="265955"/>
          </a:xfrm>
          <a:prstGeom prst="roundRect">
            <a:avLst>
              <a:gd name="adj" fmla="val 6666"/>
            </a:avLst>
          </a:prstGeom>
          <a:solidFill>
            <a:srgbClr val="F0EAEA"/>
          </a:solidFill>
          <a:ln w="12700" cmpd="sng" cap="flat">
            <a:noFill/>
            <a:prstDash val="solid"/>
            <a:miter/>
          </a:ln>
        </p:spPr>
      </p:sp>
      <p:sp>
        <p:nvSpPr>
          <p:cNvPr id="128" name="矩形"/>
          <p:cNvSpPr>
            <a:spLocks/>
          </p:cNvSpPr>
          <p:nvPr/>
        </p:nvSpPr>
        <p:spPr>
          <a:xfrm rot="0">
            <a:off x="1258453" y="2633030"/>
            <a:ext cx="177329" cy="221679"/>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350" b="0" i="0" u="none" strike="noStrike" kern="1200" cap="none" spc="0" baseline="0">
                <a:solidFill>
                  <a:srgbClr val="61615C"/>
                </a:solidFill>
                <a:latin typeface="Tomorrow SemiBold" pitchFamily="34" charset="0"/>
                <a:ea typeface="Tomorrow SemiBold" pitchFamily="34" charset="0"/>
                <a:cs typeface="Tomorrow SemiBold" pitchFamily="34" charset="0"/>
              </a:rPr>
              <a:t>1</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29" name="矩形"/>
          <p:cNvSpPr>
            <a:spLocks/>
          </p:cNvSpPr>
          <p:nvPr/>
        </p:nvSpPr>
        <p:spPr>
          <a:xfrm rot="0">
            <a:off x="614287" y="1649313"/>
            <a:ext cx="1465658" cy="184695"/>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1150" b="0" i="0" u="none" strike="noStrike" kern="1200" cap="none" spc="0" baseline="0">
                <a:solidFill>
                  <a:srgbClr val="61615C"/>
                </a:solidFill>
                <a:latin typeface="Tomorrow SemiBold" pitchFamily="34" charset="0"/>
                <a:ea typeface="Tomorrow SemiBold" pitchFamily="34" charset="0"/>
                <a:cs typeface="Tomorrow SemiBold" pitchFamily="34" charset="0"/>
              </a:rPr>
              <a:t>Upload JD</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0" name="矩形"/>
          <p:cNvSpPr>
            <a:spLocks/>
          </p:cNvSpPr>
          <p:nvPr/>
        </p:nvSpPr>
        <p:spPr>
          <a:xfrm rot="0">
            <a:off x="614287" y="1901576"/>
            <a:ext cx="1465658"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Recruiter uploads the job description</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1" name="圆角矩形"/>
          <p:cNvSpPr>
            <a:spLocks/>
          </p:cNvSpPr>
          <p:nvPr/>
        </p:nvSpPr>
        <p:spPr>
          <a:xfrm rot="0">
            <a:off x="2261369" y="2743870"/>
            <a:ext cx="14288" cy="354656"/>
          </a:xfrm>
          <a:prstGeom prst="roundRect">
            <a:avLst>
              <a:gd name="adj" fmla="val 124125"/>
            </a:avLst>
          </a:prstGeom>
          <a:solidFill>
            <a:srgbClr val="D6D0D0"/>
          </a:solidFill>
          <a:ln w="12700" cmpd="sng" cap="flat">
            <a:noFill/>
            <a:prstDash val="solid"/>
            <a:miter/>
          </a:ln>
        </p:spPr>
      </p:sp>
      <p:sp>
        <p:nvSpPr>
          <p:cNvPr id="132" name="圆角矩形"/>
          <p:cNvSpPr>
            <a:spLocks/>
          </p:cNvSpPr>
          <p:nvPr/>
        </p:nvSpPr>
        <p:spPr>
          <a:xfrm rot="0">
            <a:off x="2135535" y="2610892"/>
            <a:ext cx="265956" cy="265955"/>
          </a:xfrm>
          <a:prstGeom prst="roundRect">
            <a:avLst>
              <a:gd name="adj" fmla="val 6666"/>
            </a:avLst>
          </a:prstGeom>
          <a:solidFill>
            <a:srgbClr val="F0EAEA"/>
          </a:solidFill>
          <a:ln w="12700" cmpd="sng" cap="flat">
            <a:noFill/>
            <a:prstDash val="solid"/>
            <a:miter/>
          </a:ln>
        </p:spPr>
      </p:sp>
      <p:sp>
        <p:nvSpPr>
          <p:cNvPr id="133" name="矩形"/>
          <p:cNvSpPr>
            <a:spLocks/>
          </p:cNvSpPr>
          <p:nvPr/>
        </p:nvSpPr>
        <p:spPr>
          <a:xfrm rot="0">
            <a:off x="2179848" y="2633030"/>
            <a:ext cx="177328" cy="221679"/>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350" b="0" i="0" u="none" strike="noStrike" kern="1200" cap="none" spc="0" baseline="0">
                <a:solidFill>
                  <a:srgbClr val="61615C"/>
                </a:solidFill>
                <a:latin typeface="Tomorrow SemiBold" pitchFamily="34" charset="0"/>
                <a:ea typeface="Tomorrow SemiBold" pitchFamily="34" charset="0"/>
                <a:cs typeface="Tomorrow SemiBold" pitchFamily="34" charset="0"/>
              </a:rPr>
              <a:t>2</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4" name="矩形"/>
          <p:cNvSpPr>
            <a:spLocks/>
          </p:cNvSpPr>
          <p:nvPr/>
        </p:nvSpPr>
        <p:spPr>
          <a:xfrm rot="0">
            <a:off x="1535683" y="3216771"/>
            <a:ext cx="1465659" cy="184696"/>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1150" b="0" i="0" u="none" strike="noStrike" kern="1200" cap="none" spc="0" baseline="0">
                <a:solidFill>
                  <a:srgbClr val="61615C"/>
                </a:solidFill>
                <a:latin typeface="Tomorrow SemiBold" pitchFamily="34" charset="0"/>
                <a:ea typeface="Tomorrow SemiBold" pitchFamily="34" charset="0"/>
                <a:cs typeface="Tomorrow SemiBold" pitchFamily="34" charset="0"/>
              </a:rPr>
              <a:t>Upload Resumes</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5" name="矩形"/>
          <p:cNvSpPr>
            <a:spLocks/>
          </p:cNvSpPr>
          <p:nvPr/>
        </p:nvSpPr>
        <p:spPr>
          <a:xfrm rot="0">
            <a:off x="1535683" y="3469035"/>
            <a:ext cx="1465659"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Batch upload candidate CVs</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36" name="圆角矩形"/>
          <p:cNvSpPr>
            <a:spLocks/>
          </p:cNvSpPr>
          <p:nvPr/>
        </p:nvSpPr>
        <p:spPr>
          <a:xfrm rot="0">
            <a:off x="3182764" y="2389212"/>
            <a:ext cx="14287" cy="354656"/>
          </a:xfrm>
          <a:prstGeom prst="roundRect">
            <a:avLst>
              <a:gd name="adj" fmla="val 124125"/>
            </a:avLst>
          </a:prstGeom>
          <a:solidFill>
            <a:srgbClr val="D6D0D0"/>
          </a:solidFill>
          <a:ln w="12700" cmpd="sng" cap="flat">
            <a:noFill/>
            <a:prstDash val="solid"/>
            <a:miter/>
          </a:ln>
        </p:spPr>
      </p:sp>
      <p:sp>
        <p:nvSpPr>
          <p:cNvPr id="137" name="圆角矩形"/>
          <p:cNvSpPr>
            <a:spLocks/>
          </p:cNvSpPr>
          <p:nvPr/>
        </p:nvSpPr>
        <p:spPr>
          <a:xfrm rot="0">
            <a:off x="3056930" y="2610892"/>
            <a:ext cx="265955" cy="265955"/>
          </a:xfrm>
          <a:prstGeom prst="roundRect">
            <a:avLst>
              <a:gd name="adj" fmla="val 6666"/>
            </a:avLst>
          </a:prstGeom>
          <a:solidFill>
            <a:srgbClr val="F0EAEA"/>
          </a:solidFill>
          <a:ln w="12700" cmpd="sng" cap="flat">
            <a:noFill/>
            <a:prstDash val="solid"/>
            <a:miter/>
          </a:ln>
        </p:spPr>
      </p:sp>
      <p:sp>
        <p:nvSpPr>
          <p:cNvPr id="138" name="矩形"/>
          <p:cNvSpPr>
            <a:spLocks/>
          </p:cNvSpPr>
          <p:nvPr/>
        </p:nvSpPr>
        <p:spPr>
          <a:xfrm rot="0">
            <a:off x="3101243" y="2633030"/>
            <a:ext cx="177328" cy="221679"/>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350" b="0" i="0" u="none" strike="noStrike" kern="1200" cap="none" spc="0" baseline="0">
                <a:solidFill>
                  <a:srgbClr val="61615C"/>
                </a:solidFill>
                <a:latin typeface="Tomorrow SemiBold" pitchFamily="34" charset="0"/>
                <a:ea typeface="Tomorrow SemiBold" pitchFamily="34" charset="0"/>
                <a:cs typeface="Tomorrow SemiBold" pitchFamily="34" charset="0"/>
              </a:rPr>
              <a:t>3</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39" name="矩形"/>
          <p:cNvSpPr>
            <a:spLocks/>
          </p:cNvSpPr>
          <p:nvPr/>
        </p:nvSpPr>
        <p:spPr>
          <a:xfrm rot="0">
            <a:off x="2457078" y="1649313"/>
            <a:ext cx="1465658" cy="184695"/>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1150" b="0" i="0" u="none" strike="noStrike" kern="1200" cap="none" spc="0" baseline="0">
                <a:solidFill>
                  <a:srgbClr val="61615C"/>
                </a:solidFill>
                <a:latin typeface="Tomorrow SemiBold" pitchFamily="34" charset="0"/>
                <a:ea typeface="Tomorrow SemiBold" pitchFamily="34" charset="0"/>
                <a:cs typeface="Tomorrow SemiBold" pitchFamily="34" charset="0"/>
              </a:rPr>
              <a:t>AI Parses JD</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40" name="矩形"/>
          <p:cNvSpPr>
            <a:spLocks/>
          </p:cNvSpPr>
          <p:nvPr/>
        </p:nvSpPr>
        <p:spPr>
          <a:xfrm rot="0">
            <a:off x="2457078" y="1901576"/>
            <a:ext cx="1465658"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Extracts requirements and criteria</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1" name="圆角矩形"/>
          <p:cNvSpPr>
            <a:spLocks/>
          </p:cNvSpPr>
          <p:nvPr/>
        </p:nvSpPr>
        <p:spPr>
          <a:xfrm rot="0">
            <a:off x="4104159" y="2743870"/>
            <a:ext cx="14287" cy="354656"/>
          </a:xfrm>
          <a:prstGeom prst="roundRect">
            <a:avLst>
              <a:gd name="adj" fmla="val 124125"/>
            </a:avLst>
          </a:prstGeom>
          <a:solidFill>
            <a:srgbClr val="D6D0D0"/>
          </a:solidFill>
          <a:ln w="12700" cmpd="sng" cap="flat">
            <a:noFill/>
            <a:prstDash val="solid"/>
            <a:miter/>
          </a:ln>
        </p:spPr>
      </p:sp>
      <p:sp>
        <p:nvSpPr>
          <p:cNvPr id="142" name="圆角矩形"/>
          <p:cNvSpPr>
            <a:spLocks/>
          </p:cNvSpPr>
          <p:nvPr/>
        </p:nvSpPr>
        <p:spPr>
          <a:xfrm rot="0">
            <a:off x="3978325" y="2610892"/>
            <a:ext cx="265955" cy="265955"/>
          </a:xfrm>
          <a:prstGeom prst="roundRect">
            <a:avLst>
              <a:gd name="adj" fmla="val 6666"/>
            </a:avLst>
          </a:prstGeom>
          <a:solidFill>
            <a:srgbClr val="F0EAEA"/>
          </a:solidFill>
          <a:ln w="12700" cmpd="sng" cap="flat">
            <a:noFill/>
            <a:prstDash val="solid"/>
            <a:miter/>
          </a:ln>
        </p:spPr>
      </p:sp>
      <p:sp>
        <p:nvSpPr>
          <p:cNvPr id="143" name="矩形"/>
          <p:cNvSpPr>
            <a:spLocks/>
          </p:cNvSpPr>
          <p:nvPr/>
        </p:nvSpPr>
        <p:spPr>
          <a:xfrm rot="0">
            <a:off x="4022638" y="2633030"/>
            <a:ext cx="177328" cy="221679"/>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350" b="0" i="0" u="none" strike="noStrike" kern="1200" cap="none" spc="0" baseline="0">
                <a:solidFill>
                  <a:srgbClr val="61615C"/>
                </a:solidFill>
                <a:latin typeface="Tomorrow SemiBold" pitchFamily="34" charset="0"/>
                <a:ea typeface="Tomorrow SemiBold" pitchFamily="34" charset="0"/>
                <a:cs typeface="Tomorrow SemiBold" pitchFamily="34" charset="0"/>
              </a:rPr>
              <a:t>4</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44" name="矩形"/>
          <p:cNvSpPr>
            <a:spLocks/>
          </p:cNvSpPr>
          <p:nvPr/>
        </p:nvSpPr>
        <p:spPr>
          <a:xfrm rot="0">
            <a:off x="3378473" y="3216771"/>
            <a:ext cx="1465659" cy="184696"/>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1150" b="0" i="0" u="none" strike="noStrike" kern="1200" cap="none" spc="0" baseline="0">
                <a:solidFill>
                  <a:srgbClr val="61615C"/>
                </a:solidFill>
                <a:latin typeface="Tomorrow SemiBold" pitchFamily="34" charset="0"/>
                <a:ea typeface="Tomorrow SemiBold" pitchFamily="34" charset="0"/>
                <a:cs typeface="Tomorrow SemiBold" pitchFamily="34" charset="0"/>
              </a:rPr>
              <a:t>Resume Matching</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45" name="矩形"/>
          <p:cNvSpPr>
            <a:spLocks/>
          </p:cNvSpPr>
          <p:nvPr/>
        </p:nvSpPr>
        <p:spPr>
          <a:xfrm rot="0">
            <a:off x="3378473" y="3469035"/>
            <a:ext cx="1465659"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Semantic matching via RAG pipeline</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46" name="圆角矩形"/>
          <p:cNvSpPr>
            <a:spLocks/>
          </p:cNvSpPr>
          <p:nvPr/>
        </p:nvSpPr>
        <p:spPr>
          <a:xfrm rot="0">
            <a:off x="5025554" y="2389212"/>
            <a:ext cx="14287" cy="354656"/>
          </a:xfrm>
          <a:prstGeom prst="roundRect">
            <a:avLst>
              <a:gd name="adj" fmla="val 124125"/>
            </a:avLst>
          </a:prstGeom>
          <a:solidFill>
            <a:srgbClr val="D6D0D0"/>
          </a:solidFill>
          <a:ln w="12700" cmpd="sng" cap="flat">
            <a:noFill/>
            <a:prstDash val="solid"/>
            <a:miter/>
          </a:ln>
        </p:spPr>
      </p:sp>
      <p:sp>
        <p:nvSpPr>
          <p:cNvPr id="147" name="圆角矩形"/>
          <p:cNvSpPr>
            <a:spLocks/>
          </p:cNvSpPr>
          <p:nvPr/>
        </p:nvSpPr>
        <p:spPr>
          <a:xfrm rot="0">
            <a:off x="4899720" y="2610892"/>
            <a:ext cx="265955" cy="265955"/>
          </a:xfrm>
          <a:prstGeom prst="roundRect">
            <a:avLst>
              <a:gd name="adj" fmla="val 6666"/>
            </a:avLst>
          </a:prstGeom>
          <a:solidFill>
            <a:srgbClr val="F0EAEA"/>
          </a:solidFill>
          <a:ln w="12700" cmpd="sng" cap="flat">
            <a:noFill/>
            <a:prstDash val="solid"/>
            <a:miter/>
          </a:ln>
        </p:spPr>
      </p:sp>
      <p:sp>
        <p:nvSpPr>
          <p:cNvPr id="148" name="矩形"/>
          <p:cNvSpPr>
            <a:spLocks/>
          </p:cNvSpPr>
          <p:nvPr/>
        </p:nvSpPr>
        <p:spPr>
          <a:xfrm rot="0">
            <a:off x="4944032" y="2633030"/>
            <a:ext cx="177328" cy="221679"/>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350" b="0" i="0" u="none" strike="noStrike" kern="1200" cap="none" spc="0" baseline="0">
                <a:solidFill>
                  <a:srgbClr val="61615C"/>
                </a:solidFill>
                <a:latin typeface="Tomorrow SemiBold" pitchFamily="34" charset="0"/>
                <a:ea typeface="Tomorrow SemiBold" pitchFamily="34" charset="0"/>
                <a:cs typeface="Tomorrow SemiBold" pitchFamily="34" charset="0"/>
              </a:rPr>
              <a:t>5</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49" name="矩形"/>
          <p:cNvSpPr>
            <a:spLocks/>
          </p:cNvSpPr>
          <p:nvPr/>
        </p:nvSpPr>
        <p:spPr>
          <a:xfrm rot="0">
            <a:off x="4299868" y="1649313"/>
            <a:ext cx="1465659" cy="184695"/>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1150" b="0" i="0" u="none" strike="noStrike" kern="1200" cap="none" spc="0" baseline="0">
                <a:solidFill>
                  <a:srgbClr val="61615C"/>
                </a:solidFill>
                <a:latin typeface="Tomorrow SemiBold" pitchFamily="34" charset="0"/>
                <a:ea typeface="Tomorrow SemiBold" pitchFamily="34" charset="0"/>
                <a:cs typeface="Tomorrow SemiBold" pitchFamily="34" charset="0"/>
              </a:rPr>
              <a:t>Candidate Ranking</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0" name="矩形"/>
          <p:cNvSpPr>
            <a:spLocks/>
          </p:cNvSpPr>
          <p:nvPr/>
        </p:nvSpPr>
        <p:spPr>
          <a:xfrm rot="0">
            <a:off x="4299868" y="1901576"/>
            <a:ext cx="1465659"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AI ranks by fit and confidence score</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1" name="圆角矩形"/>
          <p:cNvSpPr>
            <a:spLocks/>
          </p:cNvSpPr>
          <p:nvPr/>
        </p:nvSpPr>
        <p:spPr>
          <a:xfrm rot="0">
            <a:off x="5946949" y="2743870"/>
            <a:ext cx="14287" cy="354656"/>
          </a:xfrm>
          <a:prstGeom prst="roundRect">
            <a:avLst>
              <a:gd name="adj" fmla="val 124125"/>
            </a:avLst>
          </a:prstGeom>
          <a:solidFill>
            <a:srgbClr val="D6D0D0"/>
          </a:solidFill>
          <a:ln w="12700" cmpd="sng" cap="flat">
            <a:noFill/>
            <a:prstDash val="solid"/>
            <a:miter/>
          </a:ln>
        </p:spPr>
      </p:sp>
      <p:sp>
        <p:nvSpPr>
          <p:cNvPr id="152" name="圆角矩形"/>
          <p:cNvSpPr>
            <a:spLocks/>
          </p:cNvSpPr>
          <p:nvPr/>
        </p:nvSpPr>
        <p:spPr>
          <a:xfrm rot="0">
            <a:off x="5821114" y="2610892"/>
            <a:ext cx="265955" cy="265955"/>
          </a:xfrm>
          <a:prstGeom prst="roundRect">
            <a:avLst>
              <a:gd name="adj" fmla="val 6666"/>
            </a:avLst>
          </a:prstGeom>
          <a:solidFill>
            <a:srgbClr val="F0EAEA"/>
          </a:solidFill>
          <a:ln w="12700" cmpd="sng" cap="flat">
            <a:noFill/>
            <a:prstDash val="solid"/>
            <a:miter/>
          </a:ln>
        </p:spPr>
      </p:sp>
      <p:sp>
        <p:nvSpPr>
          <p:cNvPr id="153" name="矩形"/>
          <p:cNvSpPr>
            <a:spLocks/>
          </p:cNvSpPr>
          <p:nvPr/>
        </p:nvSpPr>
        <p:spPr>
          <a:xfrm rot="0">
            <a:off x="5865428" y="2633030"/>
            <a:ext cx="177328" cy="221679"/>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350" b="0" i="0" u="none" strike="noStrike" kern="1200" cap="none" spc="0" baseline="0">
                <a:solidFill>
                  <a:srgbClr val="61615C"/>
                </a:solidFill>
                <a:latin typeface="Tomorrow SemiBold" pitchFamily="34" charset="0"/>
                <a:ea typeface="Tomorrow SemiBold" pitchFamily="34" charset="0"/>
                <a:cs typeface="Tomorrow SemiBold" pitchFamily="34" charset="0"/>
              </a:rPr>
              <a:t>6</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4" name="矩形"/>
          <p:cNvSpPr>
            <a:spLocks/>
          </p:cNvSpPr>
          <p:nvPr/>
        </p:nvSpPr>
        <p:spPr>
          <a:xfrm rot="0">
            <a:off x="5221263" y="3216771"/>
            <a:ext cx="1465659"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04000"/>
              </a:lnSpc>
              <a:spcBef>
                <a:spcPts val="0"/>
              </a:spcBef>
              <a:spcAft>
                <a:spcPts val="0"/>
              </a:spcAft>
              <a:buNone/>
            </a:pPr>
            <a:r>
              <a:rPr lang="en-US" altLang="zh-CN" sz="1150" b="0" i="0" u="none" strike="noStrike" kern="1200" cap="none" spc="0" baseline="0">
                <a:solidFill>
                  <a:srgbClr val="61615C"/>
                </a:solidFill>
                <a:latin typeface="Tomorrow SemiBold" pitchFamily="34" charset="0"/>
                <a:ea typeface="Tomorrow SemiBold" pitchFamily="34" charset="0"/>
                <a:cs typeface="Tomorrow SemiBold" pitchFamily="34" charset="0"/>
              </a:rPr>
              <a:t>Interview Generation</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5" name="矩形"/>
          <p:cNvSpPr>
            <a:spLocks/>
          </p:cNvSpPr>
          <p:nvPr/>
        </p:nvSpPr>
        <p:spPr>
          <a:xfrm rot="0">
            <a:off x="5221263" y="3653729"/>
            <a:ext cx="1465659"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Tailored questions per candidate</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56" name="圆角矩形"/>
          <p:cNvSpPr>
            <a:spLocks/>
          </p:cNvSpPr>
          <p:nvPr/>
        </p:nvSpPr>
        <p:spPr>
          <a:xfrm rot="0">
            <a:off x="6868343" y="2389212"/>
            <a:ext cx="14287" cy="354656"/>
          </a:xfrm>
          <a:prstGeom prst="roundRect">
            <a:avLst>
              <a:gd name="adj" fmla="val 124125"/>
            </a:avLst>
          </a:prstGeom>
          <a:solidFill>
            <a:srgbClr val="D6D0D0"/>
          </a:solidFill>
          <a:ln w="12700" cmpd="sng" cap="flat">
            <a:noFill/>
            <a:prstDash val="solid"/>
            <a:miter/>
          </a:ln>
        </p:spPr>
      </p:sp>
      <p:sp>
        <p:nvSpPr>
          <p:cNvPr id="157" name="圆角矩形"/>
          <p:cNvSpPr>
            <a:spLocks/>
          </p:cNvSpPr>
          <p:nvPr/>
        </p:nvSpPr>
        <p:spPr>
          <a:xfrm rot="0">
            <a:off x="6742509" y="2610892"/>
            <a:ext cx="265955" cy="265955"/>
          </a:xfrm>
          <a:prstGeom prst="roundRect">
            <a:avLst>
              <a:gd name="adj" fmla="val 6666"/>
            </a:avLst>
          </a:prstGeom>
          <a:solidFill>
            <a:srgbClr val="F0EAEA"/>
          </a:solidFill>
          <a:ln w="12700" cmpd="sng" cap="flat">
            <a:noFill/>
            <a:prstDash val="solid"/>
            <a:miter/>
          </a:ln>
        </p:spPr>
      </p:sp>
      <p:sp>
        <p:nvSpPr>
          <p:cNvPr id="158" name="矩形"/>
          <p:cNvSpPr>
            <a:spLocks/>
          </p:cNvSpPr>
          <p:nvPr/>
        </p:nvSpPr>
        <p:spPr>
          <a:xfrm rot="0">
            <a:off x="6786823" y="2633030"/>
            <a:ext cx="177328" cy="221679"/>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350" b="0" i="0" u="none" strike="noStrike" kern="1200" cap="none" spc="0" baseline="0">
                <a:solidFill>
                  <a:srgbClr val="61615C"/>
                </a:solidFill>
                <a:latin typeface="Tomorrow SemiBold" pitchFamily="34" charset="0"/>
                <a:ea typeface="Tomorrow SemiBold" pitchFamily="34" charset="0"/>
                <a:cs typeface="Tomorrow SemiBold" pitchFamily="34" charset="0"/>
              </a:rPr>
              <a:t>7</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59" name="矩形"/>
          <p:cNvSpPr>
            <a:spLocks/>
          </p:cNvSpPr>
          <p:nvPr/>
        </p:nvSpPr>
        <p:spPr>
          <a:xfrm rot="0">
            <a:off x="6142658" y="1649313"/>
            <a:ext cx="1465659" cy="184695"/>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1150" b="0" i="0" u="none" strike="noStrike" kern="1200" cap="none" spc="0" baseline="0">
                <a:solidFill>
                  <a:srgbClr val="61615C"/>
                </a:solidFill>
                <a:latin typeface="Tomorrow SemiBold" pitchFamily="34" charset="0"/>
                <a:ea typeface="Tomorrow SemiBold" pitchFamily="34" charset="0"/>
                <a:cs typeface="Tomorrow SemiBold" pitchFamily="34" charset="0"/>
              </a:rPr>
              <a:t>Salary Estimation</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60" name="矩形"/>
          <p:cNvSpPr>
            <a:spLocks/>
          </p:cNvSpPr>
          <p:nvPr/>
        </p:nvSpPr>
        <p:spPr>
          <a:xfrm rot="0">
            <a:off x="6142658" y="1901576"/>
            <a:ext cx="1465659"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Real-time market salary data</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1" name="圆角矩形"/>
          <p:cNvSpPr>
            <a:spLocks/>
          </p:cNvSpPr>
          <p:nvPr/>
        </p:nvSpPr>
        <p:spPr>
          <a:xfrm rot="0">
            <a:off x="7789738" y="2743870"/>
            <a:ext cx="14287" cy="354656"/>
          </a:xfrm>
          <a:prstGeom prst="roundRect">
            <a:avLst>
              <a:gd name="adj" fmla="val 124125"/>
            </a:avLst>
          </a:prstGeom>
          <a:solidFill>
            <a:srgbClr val="D6D0D0"/>
          </a:solidFill>
          <a:ln w="12700" cmpd="sng" cap="flat">
            <a:noFill/>
            <a:prstDash val="solid"/>
            <a:miter/>
          </a:ln>
        </p:spPr>
      </p:sp>
      <p:sp>
        <p:nvSpPr>
          <p:cNvPr id="162" name="圆角矩形"/>
          <p:cNvSpPr>
            <a:spLocks/>
          </p:cNvSpPr>
          <p:nvPr/>
        </p:nvSpPr>
        <p:spPr>
          <a:xfrm rot="0">
            <a:off x="7663904" y="2610892"/>
            <a:ext cx="265955" cy="265955"/>
          </a:xfrm>
          <a:prstGeom prst="roundRect">
            <a:avLst>
              <a:gd name="adj" fmla="val 6666"/>
            </a:avLst>
          </a:prstGeom>
          <a:solidFill>
            <a:srgbClr val="F0EAEA"/>
          </a:solidFill>
          <a:ln w="12700" cmpd="sng" cap="flat">
            <a:noFill/>
            <a:prstDash val="solid"/>
            <a:miter/>
          </a:ln>
        </p:spPr>
      </p:sp>
      <p:sp>
        <p:nvSpPr>
          <p:cNvPr id="163" name="矩形"/>
          <p:cNvSpPr>
            <a:spLocks/>
          </p:cNvSpPr>
          <p:nvPr/>
        </p:nvSpPr>
        <p:spPr>
          <a:xfrm rot="0">
            <a:off x="7708218" y="2633030"/>
            <a:ext cx="177328" cy="221679"/>
          </a:xfrm>
          <a:prstGeom prst="rect"/>
          <a:noFill/>
          <a:ln w="12700" cmpd="sng" cap="flat">
            <a:noFill/>
            <a:prstDash val="solid"/>
            <a:miter/>
          </a:ln>
        </p:spPr>
        <p:txBody>
          <a:bodyPr vert="horz" wrap="none" lIns="0" tIns="0" rIns="0" bIns="0" anchor="ctr" anchorCtr="0">
            <a:prstTxWarp prst="textNoShape"/>
          </a:bodyPr>
          <a:lstStyle/>
          <a:p>
            <a:pPr marL="0" indent="0" algn="ctr">
              <a:lnSpc>
                <a:spcPct val="100000"/>
              </a:lnSpc>
              <a:spcBef>
                <a:spcPts val="0"/>
              </a:spcBef>
              <a:spcAft>
                <a:spcPts val="0"/>
              </a:spcAft>
              <a:buNone/>
            </a:pPr>
            <a:r>
              <a:rPr lang="en-US" altLang="zh-CN" sz="1350" b="0" i="0" u="none" strike="noStrike" kern="1200" cap="none" spc="0" baseline="0">
                <a:solidFill>
                  <a:srgbClr val="61615C"/>
                </a:solidFill>
                <a:latin typeface="Tomorrow SemiBold" pitchFamily="34" charset="0"/>
                <a:ea typeface="Tomorrow SemiBold" pitchFamily="34" charset="0"/>
                <a:cs typeface="Tomorrow SemiBold" pitchFamily="34" charset="0"/>
              </a:rPr>
              <a:t>8</a:t>
            </a:r>
            <a:endParaRPr lang="zh-CN" altLang="en-US" sz="1350" b="0" i="0" u="none" strike="noStrike" kern="1200" cap="none" spc="0" baseline="0">
              <a:solidFill>
                <a:schemeClr val="tx1"/>
              </a:solidFill>
              <a:latin typeface="Calibri" pitchFamily="0" charset="0"/>
              <a:ea typeface="等线" pitchFamily="0" charset="0"/>
              <a:cs typeface="Calibri" pitchFamily="0" charset="0"/>
            </a:endParaRPr>
          </a:p>
        </p:txBody>
      </p:sp>
      <p:sp>
        <p:nvSpPr>
          <p:cNvPr id="164" name="矩形"/>
          <p:cNvSpPr>
            <a:spLocks/>
          </p:cNvSpPr>
          <p:nvPr/>
        </p:nvSpPr>
        <p:spPr>
          <a:xfrm rot="0">
            <a:off x="7064053" y="3216771"/>
            <a:ext cx="1465659" cy="184696"/>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1150" b="0" i="0" u="none" strike="noStrike" kern="1200" cap="none" spc="0" baseline="0">
                <a:solidFill>
                  <a:srgbClr val="61615C"/>
                </a:solidFill>
                <a:latin typeface="Tomorrow SemiBold" pitchFamily="34" charset="0"/>
                <a:ea typeface="Tomorrow SemiBold" pitchFamily="34" charset="0"/>
                <a:cs typeface="Tomorrow SemiBold" pitchFamily="34" charset="0"/>
              </a:rPr>
              <a:t>Final Shortlist</a:t>
            </a:r>
            <a:endParaRPr lang="zh-CN" altLang="en-US" sz="1150" b="0" i="0" u="none" strike="noStrike" kern="1200" cap="none" spc="0" baseline="0">
              <a:solidFill>
                <a:schemeClr val="tx1"/>
              </a:solidFill>
              <a:latin typeface="Calibri" pitchFamily="0" charset="0"/>
              <a:ea typeface="等线" pitchFamily="0" charset="0"/>
              <a:cs typeface="Calibri" pitchFamily="0" charset="0"/>
            </a:endParaRPr>
          </a:p>
        </p:txBody>
      </p:sp>
      <p:sp>
        <p:nvSpPr>
          <p:cNvPr id="165" name="矩形"/>
          <p:cNvSpPr>
            <a:spLocks/>
          </p:cNvSpPr>
          <p:nvPr/>
        </p:nvSpPr>
        <p:spPr>
          <a:xfrm rot="0">
            <a:off x="7064053" y="3469035"/>
            <a:ext cx="1465659" cy="369391"/>
          </a:xfrm>
          <a:prstGeom prst="rect"/>
          <a:noFill/>
          <a:ln w="12700" cmpd="sng" cap="flat">
            <a:noFill/>
            <a:prstDash val="solid"/>
            <a:miter/>
          </a:ln>
        </p:spPr>
        <p:txBody>
          <a:bodyPr vert="horz" wrap="square" lIns="0" tIns="0" rIns="0" bIns="0" anchor="t" anchorCtr="0">
            <a:prstTxWarp prst="textNoShape"/>
          </a:bodyPr>
          <a:lstStyle/>
          <a:p>
            <a:pPr marL="0" indent="0" algn="ctr">
              <a:lnSpc>
                <a:spcPct val="129999"/>
              </a:lnSpc>
              <a:spcBef>
                <a:spcPts val="0"/>
              </a:spcBef>
              <a:spcAft>
                <a:spcPts val="0"/>
              </a:spcAft>
              <a:buNone/>
            </a:pPr>
            <a:r>
              <a:rPr lang="en-US" altLang="zh-CN" sz="900" b="0" i="0" u="none" strike="noStrike" kern="1200" cap="none" spc="0" baseline="0">
                <a:solidFill>
                  <a:srgbClr val="61615C"/>
                </a:solidFill>
                <a:latin typeface="Tomorrow" pitchFamily="34" charset="0"/>
                <a:ea typeface="Tomorrow" pitchFamily="34" charset="0"/>
                <a:cs typeface="Tomorrow" pitchFamily="34" charset="0"/>
              </a:rPr>
              <a:t>Human-approved candidate list</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
        <p:nvSpPr>
          <p:cNvPr id="166" name="圆角矩形"/>
          <p:cNvSpPr>
            <a:spLocks/>
          </p:cNvSpPr>
          <p:nvPr/>
        </p:nvSpPr>
        <p:spPr>
          <a:xfrm rot="0">
            <a:off x="496119" y="4149849"/>
            <a:ext cx="8151763" cy="642491"/>
          </a:xfrm>
          <a:prstGeom prst="roundRect">
            <a:avLst>
              <a:gd name="adj" fmla="val 2759"/>
            </a:avLst>
          </a:prstGeom>
          <a:solidFill>
            <a:srgbClr val="E6E6E5"/>
          </a:solidFill>
          <a:ln w="12700" cmpd="sng" cap="flat">
            <a:noFill/>
            <a:prstDash val="solid"/>
            <a:miter/>
          </a:ln>
        </p:spPr>
      </p:sp>
      <p:pic>
        <p:nvPicPr>
          <p:cNvPr id="167" name="图片" descr="preencoded.png"/>
          <p:cNvPicPr>
            <a:picLocks noChangeAspect="1"/>
          </p:cNvPicPr>
          <p:nvPr/>
        </p:nvPicPr>
        <p:blipFill>
          <a:blip r:embed="rId1" cstate="print"/>
          <a:stretch>
            <a:fillRect/>
          </a:stretch>
        </p:blipFill>
        <p:spPr>
          <a:xfrm rot="0">
            <a:off x="614287" y="4317950"/>
            <a:ext cx="147786" cy="118170"/>
          </a:xfrm>
          <a:prstGeom prst="rect"/>
          <a:noFill/>
          <a:ln w="12700" cmpd="sng" cap="flat">
            <a:noFill/>
            <a:prstDash val="solid"/>
            <a:miter/>
          </a:ln>
        </p:spPr>
      </p:pic>
      <p:sp>
        <p:nvSpPr>
          <p:cNvPr id="168" name="矩形"/>
          <p:cNvSpPr>
            <a:spLocks/>
          </p:cNvSpPr>
          <p:nvPr/>
        </p:nvSpPr>
        <p:spPr>
          <a:xfrm rot="0">
            <a:off x="880244" y="4292054"/>
            <a:ext cx="7649468" cy="369391"/>
          </a:xfrm>
          <a:prstGeom prst="rect"/>
          <a:noFill/>
          <a:ln w="12700" cmpd="sng" cap="flat">
            <a:noFill/>
            <a:prstDash val="solid"/>
            <a:miter/>
          </a:ln>
        </p:spPr>
        <p:txBody>
          <a:bodyPr vert="horz" wrap="square" lIns="0" tIns="0" rIns="0" bIns="0" anchor="t" anchorCtr="0">
            <a:prstTxWarp prst="textNoShape"/>
          </a:bodyPr>
          <a:lstStyle/>
          <a:p>
            <a:pPr marL="0" indent="0" algn="l">
              <a:lnSpc>
                <a:spcPct val="129999"/>
              </a:lnSpc>
              <a:spcBef>
                <a:spcPts val="0"/>
              </a:spcBef>
              <a:spcAft>
                <a:spcPts val="0"/>
              </a:spcAft>
              <a:buNone/>
            </a:pPr>
            <a:r>
              <a:rPr lang="en-US" altLang="zh-CN" sz="90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900" b="0" i="0" u="none" strike="noStrike" kern="1200" cap="none" spc="0" baseline="0">
                <a:solidFill>
                  <a:srgbClr val="000000"/>
                </a:solidFill>
                <a:latin typeface="Tomorrow" pitchFamily="34" charset="0"/>
                <a:ea typeface="Tomorrow" pitchFamily="34" charset="0"/>
                <a:cs typeface="Tomorrow" pitchFamily="34" charset="0"/>
              </a:rPr>
              <a:t> If presenting live, this is the moment to switch to a live demo or video walkthrough. Walk through each step of the timeline and emphasize how natural the conversation feels — no complex UI, just chat.</a:t>
            </a:r>
            <a:endParaRPr lang="zh-CN" altLang="en-US" sz="9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938778885"/>
      </p:ext>
    </p:extLst>
  </p:cSld>
  <p:clrMapOvr>
    <a:masterClrMapping/>
  </p:clrMapOvr>
</p:sld>
</file>

<file path=ppt/slides/slide8.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171" name="圆角矩形"/>
          <p:cNvSpPr>
            <a:spLocks/>
          </p:cNvSpPr>
          <p:nvPr/>
        </p:nvSpPr>
        <p:spPr>
          <a:xfrm rot="0">
            <a:off x="496119" y="375270"/>
            <a:ext cx="698078" cy="126949"/>
          </a:xfrm>
          <a:prstGeom prst="roundRect">
            <a:avLst>
              <a:gd name="adj" fmla="val 7328"/>
            </a:avLst>
          </a:prstGeom>
          <a:noFill/>
          <a:ln w="12700" cmpd="sng" cap="flat">
            <a:noFill/>
            <a:prstDash val="solid"/>
            <a:miter/>
          </a:ln>
          <a:effectLst>
            <a:outerShdw sx="100000" sy="100000" algn="bl" rotWithShape="0" blurRad="101600" dist="50800" dir="16200000">
              <a:srgbClr val="1D1D1B">
                <a:alpha val="99607"/>
              </a:srgbClr>
            </a:outerShdw>
          </a:effectLst>
        </p:spPr>
      </p:sp>
      <p:sp>
        <p:nvSpPr>
          <p:cNvPr id="172" name="矩形"/>
          <p:cNvSpPr>
            <a:spLocks/>
          </p:cNvSpPr>
          <p:nvPr/>
        </p:nvSpPr>
        <p:spPr>
          <a:xfrm rot="0">
            <a:off x="542627" y="398486"/>
            <a:ext cx="1062261" cy="80516"/>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450" b="0" i="0" u="none" strike="noStrike" kern="1200" cap="none" spc="0" baseline="0">
                <a:solidFill>
                  <a:srgbClr val="1D1D1B"/>
                </a:solidFill>
                <a:latin typeface="Tomorrow" pitchFamily="34" charset="0"/>
                <a:ea typeface="Tomorrow" pitchFamily="34" charset="0"/>
                <a:cs typeface="Tomorrow" pitchFamily="34" charset="0"/>
              </a:rPr>
              <a:t>DEMO INTERACTION</a:t>
            </a:r>
            <a:endParaRPr lang="zh-CN" altLang="en-US" sz="450" b="0" i="0" u="none" strike="noStrike" kern="1200" cap="none" spc="0" baseline="0">
              <a:solidFill>
                <a:schemeClr val="tx1"/>
              </a:solidFill>
              <a:latin typeface="Calibri" pitchFamily="0" charset="0"/>
              <a:ea typeface="等线" pitchFamily="0" charset="0"/>
              <a:cs typeface="Calibri" pitchFamily="0" charset="0"/>
            </a:endParaRPr>
          </a:p>
        </p:txBody>
      </p:sp>
      <p:sp>
        <p:nvSpPr>
          <p:cNvPr id="173" name="矩形"/>
          <p:cNvSpPr>
            <a:spLocks/>
          </p:cNvSpPr>
          <p:nvPr/>
        </p:nvSpPr>
        <p:spPr>
          <a:xfrm rot="0">
            <a:off x="496119" y="521567"/>
            <a:ext cx="3229570" cy="242291"/>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500" b="0" i="0" u="none" strike="noStrike" kern="1200" cap="none" spc="0" baseline="0">
                <a:solidFill>
                  <a:srgbClr val="1D1D1B"/>
                </a:solidFill>
                <a:latin typeface="Tomorrow SemiBold" pitchFamily="34" charset="0"/>
                <a:ea typeface="Tomorrow SemiBold" pitchFamily="34" charset="0"/>
                <a:cs typeface="Tomorrow SemiBold" pitchFamily="34" charset="0"/>
              </a:rPr>
              <a:t>See RecruitFlow AI in Action</a:t>
            </a:r>
            <a:endParaRPr lang="zh-CN" altLang="en-US" sz="15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4" name="矩形"/>
          <p:cNvSpPr>
            <a:spLocks/>
          </p:cNvSpPr>
          <p:nvPr/>
        </p:nvSpPr>
        <p:spPr>
          <a:xfrm rot="0">
            <a:off x="496119" y="836488"/>
            <a:ext cx="8608963" cy="100756"/>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61615C"/>
                </a:solidFill>
                <a:latin typeface="Tomorrow" pitchFamily="34" charset="0"/>
                <a:ea typeface="Tomorrow" pitchFamily="34" charset="0"/>
                <a:cs typeface="Tomorrow" pitchFamily="34" charset="0"/>
              </a:rPr>
              <a:t>A sample conversation showing how a recruiter interacts naturally with the system — no complex interfaces, no manual steps. Just conversation.</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
        <p:nvSpPr>
          <p:cNvPr id="175" name="圆角矩形"/>
          <p:cNvSpPr>
            <a:spLocks/>
          </p:cNvSpPr>
          <p:nvPr/>
        </p:nvSpPr>
        <p:spPr>
          <a:xfrm rot="0">
            <a:off x="440234" y="991716"/>
            <a:ext cx="3675980" cy="3389784"/>
          </a:xfrm>
          <a:prstGeom prst="roundRect">
            <a:avLst>
              <a:gd name="adj" fmla="val 342"/>
            </a:avLst>
          </a:prstGeom>
          <a:solidFill>
            <a:srgbClr val="1D1D1B"/>
          </a:solidFill>
          <a:ln w="12700" cmpd="sng" cap="flat">
            <a:noFill/>
            <a:prstDash val="solid"/>
            <a:miter/>
          </a:ln>
        </p:spPr>
      </p:sp>
      <p:sp>
        <p:nvSpPr>
          <p:cNvPr id="176" name="矩形"/>
          <p:cNvSpPr>
            <a:spLocks/>
          </p:cNvSpPr>
          <p:nvPr/>
        </p:nvSpPr>
        <p:spPr>
          <a:xfrm rot="0">
            <a:off x="517699" y="1040160"/>
            <a:ext cx="1658242" cy="12583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zh-CN" altLang="en-US" sz="750" b="0" i="0" u="none" strike="noStrike" kern="1200" cap="none" spc="0" baseline="0">
                <a:solidFill>
                  <a:srgbClr val="000000"/>
                </a:solidFill>
                <a:latin typeface="Twemoji Mozilla" pitchFamily="34" charset="0"/>
                <a:ea typeface="Twemoji Mozilla" pitchFamily="34" charset="0"/>
                <a:cs typeface="Twemoji Mozilla" pitchFamily="34" charset="0"/>
              </a:rPr>
              <a:t>💬</a:t>
            </a:r>
            <a:r>
              <a:rPr lang="en-US" altLang="zh-CN" sz="750" b="0" i="0" u="none" strike="noStrike" kern="1200" cap="none" spc="0" baseline="0">
                <a:solidFill>
                  <a:srgbClr val="FFFFFF"/>
                </a:solidFill>
                <a:latin typeface="Tomorrow SemiBold" pitchFamily="34" charset="0"/>
                <a:ea typeface="Tomorrow SemiBold" pitchFamily="34" charset="0"/>
                <a:cs typeface="Tomorrow SemiBold" pitchFamily="34" charset="0"/>
              </a:rPr>
              <a:t> Sample Conversation</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77" name="图片" descr="preencoded.png"/>
          <p:cNvPicPr>
            <a:picLocks noChangeAspect="1"/>
          </p:cNvPicPr>
          <p:nvPr/>
        </p:nvPicPr>
        <p:blipFill>
          <a:blip r:embed="rId1" cstate="print"/>
          <a:stretch>
            <a:fillRect/>
          </a:stretch>
        </p:blipFill>
        <p:spPr>
          <a:xfrm rot="0">
            <a:off x="517699" y="1220465"/>
            <a:ext cx="1736303" cy="623812"/>
          </a:xfrm>
          <a:prstGeom prst="rect"/>
          <a:noFill/>
          <a:ln w="12700" cmpd="sng" cap="flat">
            <a:noFill/>
            <a:prstDash val="solid"/>
            <a:miter/>
          </a:ln>
        </p:spPr>
      </p:pic>
      <p:sp>
        <p:nvSpPr>
          <p:cNvPr id="178" name="矩形"/>
          <p:cNvSpPr>
            <a:spLocks/>
          </p:cNvSpPr>
          <p:nvPr/>
        </p:nvSpPr>
        <p:spPr>
          <a:xfrm rot="0">
            <a:off x="595164" y="1297930"/>
            <a:ext cx="969094" cy="12107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Recruiter</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79" name="矩形"/>
          <p:cNvSpPr>
            <a:spLocks/>
          </p:cNvSpPr>
          <p:nvPr/>
        </p:nvSpPr>
        <p:spPr>
          <a:xfrm rot="0">
            <a:off x="595164" y="1467445"/>
            <a:ext cx="1581373" cy="201512"/>
          </a:xfrm>
          <a:prstGeom prst="rect"/>
          <a:noFill/>
          <a:ln w="12700" cmpd="sng" cap="flat">
            <a:noFill/>
            <a:prstDash val="solid"/>
            <a:miter/>
          </a:ln>
        </p:spPr>
        <p:txBody>
          <a:bodyPr vert="horz" wrap="squar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000000"/>
                </a:solidFill>
                <a:latin typeface="Tomorrow" pitchFamily="34" charset="0"/>
                <a:ea typeface="Tomorrow" pitchFamily="34" charset="0"/>
                <a:cs typeface="Tomorrow" pitchFamily="34" charset="0"/>
              </a:rPr>
              <a:t>Upload resumes for the Software Engineer role.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80" name="图片" descr="preencoded.png"/>
          <p:cNvPicPr>
            <a:picLocks noChangeAspect="1"/>
          </p:cNvPicPr>
          <p:nvPr/>
        </p:nvPicPr>
        <p:blipFill>
          <a:blip r:embed="rId2" cstate="print"/>
          <a:stretch>
            <a:fillRect/>
          </a:stretch>
        </p:blipFill>
        <p:spPr>
          <a:xfrm rot="0">
            <a:off x="2302446" y="1220465"/>
            <a:ext cx="1736302" cy="623812"/>
          </a:xfrm>
          <a:prstGeom prst="rect"/>
          <a:noFill/>
          <a:ln w="12700" cmpd="sng" cap="flat">
            <a:noFill/>
            <a:prstDash val="solid"/>
            <a:miter/>
          </a:ln>
        </p:spPr>
      </p:pic>
      <p:sp>
        <p:nvSpPr>
          <p:cNvPr id="181" name="矩形"/>
          <p:cNvSpPr>
            <a:spLocks/>
          </p:cNvSpPr>
          <p:nvPr/>
        </p:nvSpPr>
        <p:spPr>
          <a:xfrm rot="0">
            <a:off x="2379911" y="1297930"/>
            <a:ext cx="969094" cy="12107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RecruitFlow AI</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82" name="矩形"/>
          <p:cNvSpPr>
            <a:spLocks/>
          </p:cNvSpPr>
          <p:nvPr/>
        </p:nvSpPr>
        <p:spPr>
          <a:xfrm rot="0">
            <a:off x="2379911" y="1467445"/>
            <a:ext cx="1581372" cy="206275"/>
          </a:xfrm>
          <a:prstGeom prst="rect"/>
          <a:noFill/>
          <a:ln w="12700" cmpd="sng" cap="flat">
            <a:noFill/>
            <a:prstDash val="solid"/>
            <a:miter/>
          </a:ln>
        </p:spPr>
        <p:txBody>
          <a:bodyPr vert="horz" wrap="squar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000000"/>
                </a:solidFill>
                <a:latin typeface="Tomorrow" pitchFamily="34" charset="0"/>
                <a:ea typeface="Tomorrow" pitchFamily="34" charset="0"/>
                <a:cs typeface="Tomorrow" pitchFamily="34" charset="0"/>
              </a:rPr>
              <a:t>✅</a:t>
            </a:r>
            <a:r>
              <a:rPr lang="en-US" altLang="zh-CN" sz="600" b="0" i="0" u="none" strike="noStrike" kern="1200" cap="none" spc="0" baseline="0">
                <a:solidFill>
                  <a:srgbClr val="000000"/>
                </a:solidFill>
                <a:latin typeface="Tomorrow" pitchFamily="34" charset="0"/>
                <a:ea typeface="Tomorrow" pitchFamily="34" charset="0"/>
                <a:cs typeface="Tomorrow" pitchFamily="34" charset="0"/>
              </a:rPr>
              <a:t> 15 resumes loaded and parsed successfully.</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83" name="图片" descr="preencoded.png"/>
          <p:cNvPicPr>
            <a:picLocks noChangeAspect="1"/>
          </p:cNvPicPr>
          <p:nvPr/>
        </p:nvPicPr>
        <p:blipFill>
          <a:blip r:embed="rId3" cstate="print"/>
          <a:stretch>
            <a:fillRect/>
          </a:stretch>
        </p:blipFill>
        <p:spPr>
          <a:xfrm rot="0">
            <a:off x="517699" y="1892722"/>
            <a:ext cx="1736303" cy="523056"/>
          </a:xfrm>
          <a:prstGeom prst="rect"/>
          <a:noFill/>
          <a:ln w="12700" cmpd="sng" cap="flat">
            <a:noFill/>
            <a:prstDash val="solid"/>
            <a:miter/>
          </a:ln>
        </p:spPr>
      </p:pic>
      <p:sp>
        <p:nvSpPr>
          <p:cNvPr id="184" name="矩形"/>
          <p:cNvSpPr>
            <a:spLocks/>
          </p:cNvSpPr>
          <p:nvPr/>
        </p:nvSpPr>
        <p:spPr>
          <a:xfrm rot="0">
            <a:off x="595164" y="1970187"/>
            <a:ext cx="969094" cy="12107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Recruiter</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85" name="矩形"/>
          <p:cNvSpPr>
            <a:spLocks/>
          </p:cNvSpPr>
          <p:nvPr/>
        </p:nvSpPr>
        <p:spPr>
          <a:xfrm rot="0">
            <a:off x="595164" y="2139702"/>
            <a:ext cx="1581373" cy="100756"/>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000000"/>
                </a:solidFill>
                <a:latin typeface="Tomorrow" pitchFamily="34" charset="0"/>
                <a:ea typeface="Tomorrow" pitchFamily="34" charset="0"/>
                <a:cs typeface="Tomorrow" pitchFamily="34" charset="0"/>
              </a:rPr>
              <a:t>Screen the candidates.</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86" name="图片" descr="preencoded.png"/>
          <p:cNvPicPr>
            <a:picLocks noChangeAspect="1"/>
          </p:cNvPicPr>
          <p:nvPr/>
        </p:nvPicPr>
        <p:blipFill>
          <a:blip r:embed="rId4" cstate="print"/>
          <a:stretch>
            <a:fillRect/>
          </a:stretch>
        </p:blipFill>
        <p:spPr>
          <a:xfrm rot="0">
            <a:off x="2302446" y="1892722"/>
            <a:ext cx="1736302" cy="523056"/>
          </a:xfrm>
          <a:prstGeom prst="rect"/>
          <a:noFill/>
          <a:ln w="12700" cmpd="sng" cap="flat">
            <a:noFill/>
            <a:prstDash val="solid"/>
            <a:miter/>
          </a:ln>
        </p:spPr>
      </p:pic>
      <p:sp>
        <p:nvSpPr>
          <p:cNvPr id="187" name="矩形"/>
          <p:cNvSpPr>
            <a:spLocks/>
          </p:cNvSpPr>
          <p:nvPr/>
        </p:nvSpPr>
        <p:spPr>
          <a:xfrm rot="0">
            <a:off x="2379911" y="1970187"/>
            <a:ext cx="969094" cy="12107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RecruitFlow AI</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88" name="矩形"/>
          <p:cNvSpPr>
            <a:spLocks/>
          </p:cNvSpPr>
          <p:nvPr/>
        </p:nvSpPr>
        <p:spPr>
          <a:xfrm rot="0">
            <a:off x="2379911" y="2139702"/>
            <a:ext cx="1581372" cy="105518"/>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zh-CN" altLang="en-US" sz="600" b="0" i="0" u="none" strike="noStrike" kern="1200" cap="none" spc="0" baseline="0">
                <a:solidFill>
                  <a:srgbClr val="000000"/>
                </a:solidFill>
                <a:latin typeface="Tomorrow" pitchFamily="34" charset="0"/>
                <a:ea typeface="Tomorrow" pitchFamily="34" charset="0"/>
                <a:cs typeface="Tomorrow" pitchFamily="34" charset="0"/>
              </a:rPr>
              <a:t>🏆</a:t>
            </a:r>
            <a:r>
              <a:rPr lang="en-US" altLang="zh-CN" sz="600" b="0" i="0" u="none" strike="noStrike" kern="1200" cap="none" spc="0" baseline="0">
                <a:solidFill>
                  <a:srgbClr val="000000"/>
                </a:solidFill>
                <a:latin typeface="Tomorrow" pitchFamily="34" charset="0"/>
                <a:ea typeface="Tomorrow" pitchFamily="34" charset="0"/>
                <a:cs typeface="Tomorrow" pitchFamily="34" charset="0"/>
              </a:rPr>
              <a:t> Top 5 candidates ranked by fit score.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89" name="图片" descr="preencoded.png"/>
          <p:cNvPicPr>
            <a:picLocks noChangeAspect="1"/>
          </p:cNvPicPr>
          <p:nvPr/>
        </p:nvPicPr>
        <p:blipFill>
          <a:blip r:embed="rId5" cstate="print"/>
          <a:stretch>
            <a:fillRect/>
          </a:stretch>
        </p:blipFill>
        <p:spPr>
          <a:xfrm rot="0">
            <a:off x="517699" y="2464222"/>
            <a:ext cx="1736303" cy="619051"/>
          </a:xfrm>
          <a:prstGeom prst="rect"/>
          <a:noFill/>
          <a:ln w="12700" cmpd="sng" cap="flat">
            <a:noFill/>
            <a:prstDash val="solid"/>
            <a:miter/>
          </a:ln>
        </p:spPr>
      </p:pic>
      <p:sp>
        <p:nvSpPr>
          <p:cNvPr id="190" name="矩形"/>
          <p:cNvSpPr>
            <a:spLocks/>
          </p:cNvSpPr>
          <p:nvPr/>
        </p:nvSpPr>
        <p:spPr>
          <a:xfrm rot="0">
            <a:off x="595164" y="2541687"/>
            <a:ext cx="969094" cy="121071"/>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Recruiter</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91" name="矩形"/>
          <p:cNvSpPr>
            <a:spLocks/>
          </p:cNvSpPr>
          <p:nvPr/>
        </p:nvSpPr>
        <p:spPr>
          <a:xfrm rot="0">
            <a:off x="595164" y="2711202"/>
            <a:ext cx="1581373" cy="201513"/>
          </a:xfrm>
          <a:prstGeom prst="rect"/>
          <a:noFill/>
          <a:ln w="12700" cmpd="sng" cap="flat">
            <a:noFill/>
            <a:prstDash val="solid"/>
            <a:miter/>
          </a:ln>
        </p:spPr>
        <p:txBody>
          <a:bodyPr vert="horz" wrap="squar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000000"/>
                </a:solidFill>
                <a:latin typeface="Tomorrow" pitchFamily="34" charset="0"/>
                <a:ea typeface="Tomorrow" pitchFamily="34" charset="0"/>
                <a:cs typeface="Tomorrow" pitchFamily="34" charset="0"/>
              </a:rPr>
              <a:t>Generate interview questions for the top candidate.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92" name="图片" descr="preencoded.png"/>
          <p:cNvPicPr>
            <a:picLocks noChangeAspect="1"/>
          </p:cNvPicPr>
          <p:nvPr/>
        </p:nvPicPr>
        <p:blipFill>
          <a:blip r:embed="rId6" cstate="print"/>
          <a:stretch>
            <a:fillRect/>
          </a:stretch>
        </p:blipFill>
        <p:spPr>
          <a:xfrm rot="0">
            <a:off x="2302446" y="2464222"/>
            <a:ext cx="1736302" cy="619051"/>
          </a:xfrm>
          <a:prstGeom prst="rect"/>
          <a:noFill/>
          <a:ln w="12700" cmpd="sng" cap="flat">
            <a:noFill/>
            <a:prstDash val="solid"/>
            <a:miter/>
          </a:ln>
        </p:spPr>
      </p:pic>
      <p:sp>
        <p:nvSpPr>
          <p:cNvPr id="193" name="矩形"/>
          <p:cNvSpPr>
            <a:spLocks/>
          </p:cNvSpPr>
          <p:nvPr/>
        </p:nvSpPr>
        <p:spPr>
          <a:xfrm rot="0">
            <a:off x="2379911" y="2541687"/>
            <a:ext cx="969094" cy="121071"/>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RecruitFlow AI</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94" name="矩形"/>
          <p:cNvSpPr>
            <a:spLocks/>
          </p:cNvSpPr>
          <p:nvPr/>
        </p:nvSpPr>
        <p:spPr>
          <a:xfrm rot="0">
            <a:off x="2379911" y="2711202"/>
            <a:ext cx="1581372" cy="105518"/>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zh-CN" altLang="en-US" sz="600" b="0" i="0" u="none" strike="noStrike" kern="1200" cap="none" spc="0" baseline="0">
                <a:solidFill>
                  <a:srgbClr val="000000"/>
                </a:solidFill>
                <a:latin typeface="Tomorrow" pitchFamily="34" charset="0"/>
                <a:ea typeface="Tomorrow" pitchFamily="34" charset="0"/>
                <a:cs typeface="Tomorrow" pitchFamily="34" charset="0"/>
              </a:rPr>
              <a:t>📋</a:t>
            </a:r>
            <a:r>
              <a:rPr lang="en-US" altLang="zh-CN" sz="600" b="0" i="0" u="none" strike="noStrike" kern="1200" cap="none" spc="0" baseline="0">
                <a:solidFill>
                  <a:srgbClr val="000000"/>
                </a:solidFill>
                <a:latin typeface="Tomorrow" pitchFamily="34" charset="0"/>
                <a:ea typeface="Tomorrow" pitchFamily="34" charset="0"/>
                <a:cs typeface="Tomorrow" pitchFamily="34" charset="0"/>
              </a:rPr>
              <a:t> 8 tailored questions generated.</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95" name="图片" descr="preencoded.png"/>
          <p:cNvPicPr>
            <a:picLocks noChangeAspect="1"/>
          </p:cNvPicPr>
          <p:nvPr/>
        </p:nvPicPr>
        <p:blipFill>
          <a:blip r:embed="rId7" cstate="print"/>
          <a:stretch>
            <a:fillRect/>
          </a:stretch>
        </p:blipFill>
        <p:spPr>
          <a:xfrm rot="0">
            <a:off x="517699" y="3131716"/>
            <a:ext cx="1736303" cy="523056"/>
          </a:xfrm>
          <a:prstGeom prst="rect"/>
          <a:noFill/>
          <a:ln w="12700" cmpd="sng" cap="flat">
            <a:noFill/>
            <a:prstDash val="solid"/>
            <a:miter/>
          </a:ln>
        </p:spPr>
      </p:pic>
      <p:sp>
        <p:nvSpPr>
          <p:cNvPr id="196" name="矩形"/>
          <p:cNvSpPr>
            <a:spLocks/>
          </p:cNvSpPr>
          <p:nvPr/>
        </p:nvSpPr>
        <p:spPr>
          <a:xfrm rot="0">
            <a:off x="595164" y="3209181"/>
            <a:ext cx="969094" cy="121071"/>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Recruiter</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197" name="矩形"/>
          <p:cNvSpPr>
            <a:spLocks/>
          </p:cNvSpPr>
          <p:nvPr/>
        </p:nvSpPr>
        <p:spPr>
          <a:xfrm rot="0">
            <a:off x="595164" y="3378696"/>
            <a:ext cx="1581373" cy="100757"/>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000000"/>
                </a:solidFill>
                <a:latin typeface="Tomorrow" pitchFamily="34" charset="0"/>
                <a:ea typeface="Tomorrow" pitchFamily="34" charset="0"/>
                <a:cs typeface="Tomorrow" pitchFamily="34" charset="0"/>
              </a:rPr>
              <a:t>Rewrite the JD to be more inclusive.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198" name="图片" descr="preencoded.png"/>
          <p:cNvPicPr>
            <a:picLocks noChangeAspect="1"/>
          </p:cNvPicPr>
          <p:nvPr/>
        </p:nvPicPr>
        <p:blipFill>
          <a:blip r:embed="rId8" cstate="print"/>
          <a:stretch>
            <a:fillRect/>
          </a:stretch>
        </p:blipFill>
        <p:spPr>
          <a:xfrm rot="0">
            <a:off x="2302446" y="3131716"/>
            <a:ext cx="1736302" cy="523056"/>
          </a:xfrm>
          <a:prstGeom prst="rect"/>
          <a:noFill/>
          <a:ln w="12700" cmpd="sng" cap="flat">
            <a:noFill/>
            <a:prstDash val="solid"/>
            <a:miter/>
          </a:ln>
        </p:spPr>
      </p:pic>
      <p:sp>
        <p:nvSpPr>
          <p:cNvPr id="199" name="矩形"/>
          <p:cNvSpPr>
            <a:spLocks/>
          </p:cNvSpPr>
          <p:nvPr/>
        </p:nvSpPr>
        <p:spPr>
          <a:xfrm rot="0">
            <a:off x="2379911" y="3209181"/>
            <a:ext cx="969094" cy="121071"/>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RecruitFlow AI</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00" name="矩形"/>
          <p:cNvSpPr>
            <a:spLocks/>
          </p:cNvSpPr>
          <p:nvPr/>
        </p:nvSpPr>
        <p:spPr>
          <a:xfrm rot="0">
            <a:off x="2379911" y="3378696"/>
            <a:ext cx="1581372" cy="105518"/>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000000"/>
                </a:solidFill>
                <a:latin typeface="Tomorrow" pitchFamily="34" charset="0"/>
                <a:ea typeface="Tomorrow" pitchFamily="34" charset="0"/>
                <a:cs typeface="Tomorrow" pitchFamily="34" charset="0"/>
              </a:rPr>
              <a:t>✏️</a:t>
            </a:r>
            <a:r>
              <a:rPr lang="en-US" altLang="zh-CN" sz="600" b="0" i="0" u="none" strike="noStrike" kern="1200" cap="none" spc="0" baseline="0">
                <a:solidFill>
                  <a:srgbClr val="000000"/>
                </a:solidFill>
                <a:latin typeface="Tomorrow" pitchFamily="34" charset="0"/>
                <a:ea typeface="Tomorrow" pitchFamily="34" charset="0"/>
                <a:cs typeface="Tomorrow" pitchFamily="34" charset="0"/>
              </a:rPr>
              <a:t> JD rewritten — clearer and bias-free.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201" name="图片" descr="preencoded.png"/>
          <p:cNvPicPr>
            <a:picLocks noChangeAspect="1"/>
          </p:cNvPicPr>
          <p:nvPr/>
        </p:nvPicPr>
        <p:blipFill>
          <a:blip r:embed="rId9" cstate="print"/>
          <a:stretch>
            <a:fillRect/>
          </a:stretch>
        </p:blipFill>
        <p:spPr>
          <a:xfrm rot="0">
            <a:off x="517699" y="3703216"/>
            <a:ext cx="1736303" cy="623812"/>
          </a:xfrm>
          <a:prstGeom prst="rect"/>
          <a:noFill/>
          <a:ln w="12700" cmpd="sng" cap="flat">
            <a:noFill/>
            <a:prstDash val="solid"/>
            <a:miter/>
          </a:ln>
        </p:spPr>
      </p:pic>
      <p:sp>
        <p:nvSpPr>
          <p:cNvPr id="202" name="矩形"/>
          <p:cNvSpPr>
            <a:spLocks/>
          </p:cNvSpPr>
          <p:nvPr/>
        </p:nvSpPr>
        <p:spPr>
          <a:xfrm rot="0">
            <a:off x="595164" y="3780681"/>
            <a:ext cx="969094" cy="121071"/>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Recruiter</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03" name="矩形"/>
          <p:cNvSpPr>
            <a:spLocks/>
          </p:cNvSpPr>
          <p:nvPr/>
        </p:nvSpPr>
        <p:spPr>
          <a:xfrm rot="0">
            <a:off x="595164" y="3950195"/>
            <a:ext cx="1581373" cy="100757"/>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000000"/>
                </a:solidFill>
                <a:latin typeface="Tomorrow" pitchFamily="34" charset="0"/>
                <a:ea typeface="Tomorrow" pitchFamily="34" charset="0"/>
                <a:cs typeface="Tomorrow" pitchFamily="34" charset="0"/>
              </a:rPr>
              <a:t>Estimate salary for this role.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pic>
        <p:nvPicPr>
          <p:cNvPr id="204" name="图片" descr="preencoded.png"/>
          <p:cNvPicPr>
            <a:picLocks noChangeAspect="1"/>
          </p:cNvPicPr>
          <p:nvPr/>
        </p:nvPicPr>
        <p:blipFill>
          <a:blip r:embed="rId10" cstate="print"/>
          <a:stretch>
            <a:fillRect/>
          </a:stretch>
        </p:blipFill>
        <p:spPr>
          <a:xfrm rot="0">
            <a:off x="2302446" y="3703216"/>
            <a:ext cx="1736302" cy="623812"/>
          </a:xfrm>
          <a:prstGeom prst="rect"/>
          <a:noFill/>
          <a:ln w="12700" cmpd="sng" cap="flat">
            <a:noFill/>
            <a:prstDash val="solid"/>
            <a:miter/>
          </a:ln>
        </p:spPr>
      </p:pic>
      <p:sp>
        <p:nvSpPr>
          <p:cNvPr id="205" name="矩形"/>
          <p:cNvSpPr>
            <a:spLocks/>
          </p:cNvSpPr>
          <p:nvPr/>
        </p:nvSpPr>
        <p:spPr>
          <a:xfrm rot="0">
            <a:off x="2379911" y="3780681"/>
            <a:ext cx="969094" cy="121071"/>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000000"/>
                </a:solidFill>
                <a:latin typeface="Tomorrow SemiBold" pitchFamily="34" charset="0"/>
                <a:ea typeface="Tomorrow SemiBold" pitchFamily="34" charset="0"/>
                <a:cs typeface="Tomorrow SemiBold" pitchFamily="34" charset="0"/>
              </a:rPr>
              <a:t>RecruitFlow AI</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06" name="矩形"/>
          <p:cNvSpPr>
            <a:spLocks/>
          </p:cNvSpPr>
          <p:nvPr/>
        </p:nvSpPr>
        <p:spPr>
          <a:xfrm rot="0">
            <a:off x="2379911" y="3950195"/>
            <a:ext cx="1581372" cy="206276"/>
          </a:xfrm>
          <a:prstGeom prst="rect"/>
          <a:noFill/>
          <a:ln w="12700" cmpd="sng" cap="flat">
            <a:noFill/>
            <a:prstDash val="solid"/>
            <a:miter/>
          </a:ln>
        </p:spPr>
        <p:txBody>
          <a:bodyPr vert="horz" wrap="square" lIns="0" tIns="0" rIns="0" bIns="0" anchor="t" anchorCtr="0">
            <a:prstTxWarp prst="textNoShape"/>
          </a:bodyPr>
          <a:lstStyle/>
          <a:p>
            <a:pPr marL="0" indent="0" algn="l">
              <a:lnSpc>
                <a:spcPct val="108000"/>
              </a:lnSpc>
              <a:spcBef>
                <a:spcPts val="0"/>
              </a:spcBef>
              <a:spcAft>
                <a:spcPts val="0"/>
              </a:spcAft>
              <a:buNone/>
            </a:pPr>
            <a:r>
              <a:rPr lang="zh-CN" altLang="en-US" sz="600" b="0" i="0" u="none" strike="noStrike" kern="1200" cap="none" spc="0" baseline="0">
                <a:solidFill>
                  <a:srgbClr val="000000"/>
                </a:solidFill>
                <a:latin typeface="Tomorrow" pitchFamily="34" charset="0"/>
                <a:ea typeface="Tomorrow" pitchFamily="34" charset="0"/>
                <a:cs typeface="Tomorrow" pitchFamily="34" charset="0"/>
              </a:rPr>
              <a:t>💰</a:t>
            </a:r>
            <a:r>
              <a:rPr lang="en-US" altLang="zh-CN" sz="600" b="0" i="0" u="none" strike="noStrike" kern="1200" cap="none" spc="0" baseline="0">
                <a:solidFill>
                  <a:srgbClr val="000000"/>
                </a:solidFill>
                <a:latin typeface="Tomorrow" pitchFamily="34" charset="0"/>
                <a:ea typeface="Tomorrow" pitchFamily="34" charset="0"/>
                <a:cs typeface="Tomorrow" pitchFamily="34" charset="0"/>
              </a:rPr>
              <a:t> Market range: $85K–$105K based on location and experience.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
        <p:nvSpPr>
          <p:cNvPr id="207" name="矩形"/>
          <p:cNvSpPr>
            <a:spLocks/>
          </p:cNvSpPr>
          <p:nvPr/>
        </p:nvSpPr>
        <p:spPr>
          <a:xfrm rot="0">
            <a:off x="4254252" y="1040160"/>
            <a:ext cx="2291952" cy="12107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750" b="0" i="0" u="none" strike="noStrike" kern="1200" cap="none" spc="0" baseline="0">
                <a:solidFill>
                  <a:srgbClr val="1D1D1B"/>
                </a:solidFill>
                <a:latin typeface="Tomorrow SemiBold" pitchFamily="34" charset="0"/>
                <a:ea typeface="Tomorrow SemiBold" pitchFamily="34" charset="0"/>
                <a:cs typeface="Tomorrow SemiBold" pitchFamily="34" charset="0"/>
              </a:rPr>
              <a:t>What's Happening Behind the Scenes</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08" name="矩形"/>
          <p:cNvSpPr>
            <a:spLocks/>
          </p:cNvSpPr>
          <p:nvPr/>
        </p:nvSpPr>
        <p:spPr>
          <a:xfrm rot="0">
            <a:off x="4254252" y="1209675"/>
            <a:ext cx="4398318" cy="688999"/>
          </a:xfrm>
          <a:prstGeom prst="rect"/>
          <a:noFill/>
          <a:ln w="12700" cmpd="sng" cap="flat">
            <a:noFill/>
            <a:prstDash val="solid"/>
            <a:miter/>
          </a:ln>
        </p:spPr>
        <p:txBody>
          <a:bodyPr vert="horz" wrap="square" lIns="0" tIns="0" rIns="0" bIns="0" anchor="t" anchorCtr="0">
            <a:prstTxWarp prst="textNoShape"/>
          </a:bodyPr>
          <a:lstStyle/>
          <a:p>
            <a:pPr marL="121920" indent="-121920" algn="l">
              <a:lnSpc>
                <a:spcPct val="108000"/>
              </a:lnSpc>
              <a:spcBef>
                <a:spcPts val="0"/>
              </a:spcBef>
              <a:spcAft>
                <a:spcPts val="0"/>
              </a:spcAft>
              <a:buClrTx/>
              <a:buChar char="•"/>
            </a:pPr>
            <a:r>
              <a:rPr lang="en-US" altLang="zh-CN" sz="600" b="1" i="0" u="none" strike="noStrike" kern="1200" cap="none" spc="0" baseline="0">
                <a:solidFill>
                  <a:srgbClr val="61615C"/>
                </a:solidFill>
                <a:latin typeface="Tomorrow Bold" pitchFamily="34" charset="0"/>
                <a:ea typeface="Tomorrow Bold" pitchFamily="34" charset="0"/>
                <a:cs typeface="Tomorrow Bold" pitchFamily="34" charset="0"/>
              </a:rPr>
              <a:t>Resume Upload</a:t>
            </a:r>
            <a:r>
              <a:rPr lang="en-US" altLang="zh-CN" sz="600" b="0" i="0" u="none" strike="noStrike" kern="1200" cap="none" spc="0" baseline="0">
                <a:solidFill>
                  <a:srgbClr val="61615C"/>
                </a:solidFill>
                <a:latin typeface="Tomorrow" pitchFamily="34" charset="0"/>
                <a:ea typeface="Tomorrow" pitchFamily="34" charset="0"/>
                <a:cs typeface="Tomorrow" pitchFamily="34" charset="0"/>
              </a:rPr>
              <a:t> — PyMuPDF parses PDFs; ChromaDB stores embeddings</a:t>
            </a:r>
            <a:endParaRPr lang="en-US" altLang="zh-CN" sz="600" b="0" i="0" u="none" strike="noStrike" kern="1200" cap="none" spc="0" baseline="0">
              <a:solidFill>
                <a:schemeClr val="tx1"/>
              </a:solidFill>
              <a:latin typeface="Calibri" pitchFamily="0" charset="0"/>
              <a:ea typeface="等线" pitchFamily="0" charset="0"/>
              <a:cs typeface="Calibri" pitchFamily="0" charset="0"/>
            </a:endParaRPr>
          </a:p>
          <a:p>
            <a:pPr marL="121920" indent="-121920" algn="l">
              <a:lnSpc>
                <a:spcPct val="108000"/>
              </a:lnSpc>
              <a:spcBef>
                <a:spcPts val="0"/>
              </a:spcBef>
              <a:spcAft>
                <a:spcPts val="0"/>
              </a:spcAft>
              <a:buClrTx/>
              <a:buChar char="•"/>
            </a:pPr>
            <a:r>
              <a:rPr lang="en-US" altLang="zh-CN" sz="600" b="1" i="0" u="none" strike="noStrike" kern="1200" cap="none" spc="0" baseline="0">
                <a:solidFill>
                  <a:srgbClr val="61615C"/>
                </a:solidFill>
                <a:latin typeface="Tomorrow Bold" pitchFamily="34" charset="0"/>
                <a:ea typeface="Tomorrow Bold" pitchFamily="34" charset="0"/>
                <a:cs typeface="Tomorrow Bold" pitchFamily="34" charset="0"/>
              </a:rPr>
              <a:t>Screening</a:t>
            </a:r>
            <a:r>
              <a:rPr lang="en-US" altLang="zh-CN" sz="600" b="0" i="0" u="none" strike="noStrike" kern="1200" cap="none" spc="0" baseline="0">
                <a:solidFill>
                  <a:srgbClr val="61615C"/>
                </a:solidFill>
                <a:latin typeface="Tomorrow" pitchFamily="34" charset="0"/>
                <a:ea typeface="Tomorrow" pitchFamily="34" charset="0"/>
                <a:cs typeface="Tomorrow" pitchFamily="34" charset="0"/>
              </a:rPr>
              <a:t> — LangGraph routes to Screening Agent; RAG retrieves matches</a:t>
            </a:r>
            <a:endParaRPr lang="en-US" altLang="zh-CN" sz="600" b="0" i="0" u="none" strike="noStrike" kern="1200" cap="none" spc="0" baseline="0">
              <a:solidFill>
                <a:schemeClr val="tx1"/>
              </a:solidFill>
              <a:latin typeface="Calibri" pitchFamily="0" charset="0"/>
              <a:ea typeface="等线" pitchFamily="0" charset="0"/>
              <a:cs typeface="Calibri" pitchFamily="0" charset="0"/>
            </a:endParaRPr>
          </a:p>
          <a:p>
            <a:pPr marL="121920" indent="-121920" algn="l">
              <a:lnSpc>
                <a:spcPct val="108000"/>
              </a:lnSpc>
              <a:spcBef>
                <a:spcPts val="0"/>
              </a:spcBef>
              <a:spcAft>
                <a:spcPts val="0"/>
              </a:spcAft>
              <a:buClrTx/>
              <a:buChar char="•"/>
            </a:pPr>
            <a:r>
              <a:rPr lang="en-US" altLang="zh-CN" sz="600" b="1" i="0" u="none" strike="noStrike" kern="1200" cap="none" spc="0" baseline="0">
                <a:solidFill>
                  <a:srgbClr val="61615C"/>
                </a:solidFill>
                <a:latin typeface="Tomorrow Bold" pitchFamily="34" charset="0"/>
                <a:ea typeface="Tomorrow Bold" pitchFamily="34" charset="0"/>
                <a:cs typeface="Tomorrow Bold" pitchFamily="34" charset="0"/>
              </a:rPr>
              <a:t>Ranking</a:t>
            </a:r>
            <a:r>
              <a:rPr lang="en-US" altLang="zh-CN" sz="600" b="0" i="0" u="none" strike="noStrike" kern="1200" cap="none" spc="0" baseline="0">
                <a:solidFill>
                  <a:srgbClr val="61615C"/>
                </a:solidFill>
                <a:latin typeface="Tomorrow" pitchFamily="34" charset="0"/>
                <a:ea typeface="Tomorrow" pitchFamily="34" charset="0"/>
                <a:cs typeface="Tomorrow" pitchFamily="34" charset="0"/>
              </a:rPr>
              <a:t> — Gemini scores candidates; results cached in session memory</a:t>
            </a:r>
            <a:endParaRPr lang="en-US" altLang="zh-CN" sz="600" b="0" i="0" u="none" strike="noStrike" kern="1200" cap="none" spc="0" baseline="0">
              <a:solidFill>
                <a:schemeClr val="tx1"/>
              </a:solidFill>
              <a:latin typeface="Calibri" pitchFamily="0" charset="0"/>
              <a:ea typeface="等线" pitchFamily="0" charset="0"/>
              <a:cs typeface="Calibri" pitchFamily="0" charset="0"/>
            </a:endParaRPr>
          </a:p>
          <a:p>
            <a:pPr marL="121920" indent="-121920" algn="l">
              <a:lnSpc>
                <a:spcPct val="108000"/>
              </a:lnSpc>
              <a:spcBef>
                <a:spcPts val="0"/>
              </a:spcBef>
              <a:spcAft>
                <a:spcPts val="0"/>
              </a:spcAft>
              <a:buClrTx/>
              <a:buChar char="•"/>
            </a:pPr>
            <a:r>
              <a:rPr lang="en-US" altLang="zh-CN" sz="600" b="1" i="0" u="none" strike="noStrike" kern="1200" cap="none" spc="0" baseline="0">
                <a:solidFill>
                  <a:srgbClr val="61615C"/>
                </a:solidFill>
                <a:latin typeface="Tomorrow Bold" pitchFamily="34" charset="0"/>
                <a:ea typeface="Tomorrow Bold" pitchFamily="34" charset="0"/>
                <a:cs typeface="Tomorrow Bold" pitchFamily="34" charset="0"/>
              </a:rPr>
              <a:t>Interview Questions</a:t>
            </a:r>
            <a:r>
              <a:rPr lang="en-US" altLang="zh-CN" sz="600" b="0" i="0" u="none" strike="noStrike" kern="1200" cap="none" spc="0" baseline="0">
                <a:solidFill>
                  <a:srgbClr val="61615C"/>
                </a:solidFill>
                <a:latin typeface="Tomorrow" pitchFamily="34" charset="0"/>
                <a:ea typeface="Tomorrow" pitchFamily="34" charset="0"/>
                <a:cs typeface="Tomorrow" pitchFamily="34" charset="0"/>
              </a:rPr>
              <a:t> — Agent generates role-specific, candidate-tailored questions</a:t>
            </a:r>
            <a:endParaRPr lang="en-US" altLang="zh-CN" sz="600" b="0" i="0" u="none" strike="noStrike" kern="1200" cap="none" spc="0" baseline="0">
              <a:solidFill>
                <a:schemeClr val="tx1"/>
              </a:solidFill>
              <a:latin typeface="Calibri" pitchFamily="0" charset="0"/>
              <a:ea typeface="等线" pitchFamily="0" charset="0"/>
              <a:cs typeface="Calibri" pitchFamily="0" charset="0"/>
            </a:endParaRPr>
          </a:p>
          <a:p>
            <a:pPr marL="121920" indent="-121920" algn="l">
              <a:lnSpc>
                <a:spcPct val="108000"/>
              </a:lnSpc>
              <a:spcBef>
                <a:spcPts val="0"/>
              </a:spcBef>
              <a:spcAft>
                <a:spcPts val="0"/>
              </a:spcAft>
              <a:buClrTx/>
              <a:buChar char="•"/>
            </a:pPr>
            <a:r>
              <a:rPr lang="en-US" altLang="zh-CN" sz="600" b="1" i="0" u="none" strike="noStrike" kern="1200" cap="none" spc="0" baseline="0">
                <a:solidFill>
                  <a:srgbClr val="61615C"/>
                </a:solidFill>
                <a:latin typeface="Tomorrow Bold" pitchFamily="34" charset="0"/>
                <a:ea typeface="Tomorrow Bold" pitchFamily="34" charset="0"/>
                <a:cs typeface="Tomorrow Bold" pitchFamily="34" charset="0"/>
              </a:rPr>
              <a:t>JD Rewrite</a:t>
            </a:r>
            <a:r>
              <a:rPr lang="en-US" altLang="zh-CN" sz="600" b="0" i="0" u="none" strike="noStrike" kern="1200" cap="none" spc="0" baseline="0">
                <a:solidFill>
                  <a:srgbClr val="61615C"/>
                </a:solidFill>
                <a:latin typeface="Tomorrow" pitchFamily="34" charset="0"/>
                <a:ea typeface="Tomorrow" pitchFamily="34" charset="0"/>
                <a:cs typeface="Tomorrow" pitchFamily="34" charset="0"/>
              </a:rPr>
              <a:t> — LLM optimizes for clarity, inclusivity, and SEO</a:t>
            </a:r>
            <a:endParaRPr lang="en-US" altLang="zh-CN" sz="600" b="0" i="0" u="none" strike="noStrike" kern="1200" cap="none" spc="0" baseline="0">
              <a:solidFill>
                <a:schemeClr val="tx1"/>
              </a:solidFill>
              <a:latin typeface="Calibri" pitchFamily="0" charset="0"/>
              <a:ea typeface="等线" pitchFamily="0" charset="0"/>
              <a:cs typeface="Calibri" pitchFamily="0" charset="0"/>
            </a:endParaRPr>
          </a:p>
          <a:p>
            <a:pPr marL="121920" indent="-121920" algn="l">
              <a:lnSpc>
                <a:spcPct val="108000"/>
              </a:lnSpc>
              <a:spcBef>
                <a:spcPts val="0"/>
              </a:spcBef>
              <a:spcAft>
                <a:spcPts val="0"/>
              </a:spcAft>
              <a:buClrTx/>
              <a:buChar char="•"/>
            </a:pPr>
            <a:r>
              <a:rPr lang="en-US" altLang="zh-CN" sz="600" b="1" i="0" u="none" strike="noStrike" kern="1200" cap="none" spc="0" baseline="0">
                <a:solidFill>
                  <a:srgbClr val="61615C"/>
                </a:solidFill>
                <a:latin typeface="Tomorrow Bold" pitchFamily="34" charset="0"/>
                <a:ea typeface="Tomorrow Bold" pitchFamily="34" charset="0"/>
                <a:cs typeface="Tomorrow Bold" pitchFamily="34" charset="0"/>
              </a:rPr>
              <a:t>Salary Estimation</a:t>
            </a:r>
            <a:r>
              <a:rPr lang="en-US" altLang="zh-CN" sz="600" b="0" i="0" u="none" strike="noStrike" kern="1200" cap="none" spc="0" baseline="0">
                <a:solidFill>
                  <a:srgbClr val="61615C"/>
                </a:solidFill>
                <a:latin typeface="Tomorrow" pitchFamily="34" charset="0"/>
                <a:ea typeface="Tomorrow" pitchFamily="34" charset="0"/>
                <a:cs typeface="Tomorrow" pitchFamily="34" charset="0"/>
              </a:rPr>
              <a:t> — Tavily fetches live market data; Groq processes response</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
        <p:nvSpPr>
          <p:cNvPr id="209" name="圆角矩形"/>
          <p:cNvSpPr>
            <a:spLocks/>
          </p:cNvSpPr>
          <p:nvPr/>
        </p:nvSpPr>
        <p:spPr>
          <a:xfrm rot="0">
            <a:off x="4254252" y="1953146"/>
            <a:ext cx="4398318" cy="226664"/>
          </a:xfrm>
          <a:prstGeom prst="roundRect">
            <a:avLst>
              <a:gd name="adj" fmla="val 5129"/>
            </a:avLst>
          </a:prstGeom>
          <a:solidFill>
            <a:srgbClr val="B6D6FC"/>
          </a:solidFill>
          <a:ln w="12700" cmpd="sng" cap="flat">
            <a:noFill/>
            <a:prstDash val="solid"/>
            <a:miter/>
          </a:ln>
        </p:spPr>
      </p:sp>
      <p:pic>
        <p:nvPicPr>
          <p:cNvPr id="210" name="图片" descr="preencoded.png"/>
          <p:cNvPicPr>
            <a:picLocks noChangeAspect="1"/>
          </p:cNvPicPr>
          <p:nvPr/>
        </p:nvPicPr>
        <p:blipFill>
          <a:blip r:embed="rId11" cstate="print"/>
          <a:stretch>
            <a:fillRect/>
          </a:stretch>
        </p:blipFill>
        <p:spPr>
          <a:xfrm rot="0">
            <a:off x="4331717" y="2063130"/>
            <a:ext cx="96887" cy="77465"/>
          </a:xfrm>
          <a:prstGeom prst="rect"/>
          <a:noFill/>
          <a:ln w="12700" cmpd="sng" cap="flat">
            <a:noFill/>
            <a:prstDash val="solid"/>
            <a:miter/>
          </a:ln>
        </p:spPr>
      </p:pic>
      <p:sp>
        <p:nvSpPr>
          <p:cNvPr id="211" name="矩形"/>
          <p:cNvSpPr>
            <a:spLocks/>
          </p:cNvSpPr>
          <p:nvPr/>
        </p:nvSpPr>
        <p:spPr>
          <a:xfrm rot="0">
            <a:off x="4506069" y="2016100"/>
            <a:ext cx="4526235" cy="100756"/>
          </a:xfrm>
          <a:prstGeom prst="rect"/>
          <a:noFill/>
          <a:ln w="12700" cmpd="sng" cap="flat">
            <a:noFill/>
            <a:prstDash val="solid"/>
            <a:miter/>
          </a:ln>
        </p:spPr>
        <p:txBody>
          <a:bodyPr vert="horz" wrap="none" lIns="0" tIns="0" rIns="0" bIns="0" anchor="t" anchorCtr="0">
            <a:prstTxWarp prst="textNoShape"/>
          </a:bodyPr>
          <a:lstStyle/>
          <a:p>
            <a:pPr marL="0" indent="0" algn="l">
              <a:lnSpc>
                <a:spcPct val="108000"/>
              </a:lnSpc>
              <a:spcBef>
                <a:spcPts val="0"/>
              </a:spcBef>
              <a:spcAft>
                <a:spcPts val="0"/>
              </a:spcAft>
              <a:buNone/>
            </a:pPr>
            <a:r>
              <a:rPr lang="en-US" altLang="zh-CN" sz="600" b="0" i="0" u="none" strike="noStrike" kern="1200" cap="none" spc="0" baseline="0">
                <a:solidFill>
                  <a:srgbClr val="000000"/>
                </a:solidFill>
                <a:latin typeface="Tomorrow" pitchFamily="34" charset="0"/>
                <a:ea typeface="Tomorrow" pitchFamily="34" charset="0"/>
                <a:cs typeface="Tomorrow" pitchFamily="34" charset="0"/>
              </a:rPr>
              <a:t>Every interaction is logged, traceable, and auditable — full transparency for compliance and accountability.</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
        <p:nvSpPr>
          <p:cNvPr id="212" name="圆角矩形"/>
          <p:cNvSpPr>
            <a:spLocks/>
          </p:cNvSpPr>
          <p:nvPr/>
        </p:nvSpPr>
        <p:spPr>
          <a:xfrm rot="0">
            <a:off x="496119" y="4435971"/>
            <a:ext cx="8151763" cy="332258"/>
          </a:xfrm>
          <a:prstGeom prst="roundRect">
            <a:avLst>
              <a:gd name="adj" fmla="val 3500"/>
            </a:avLst>
          </a:prstGeom>
          <a:solidFill>
            <a:srgbClr val="E6E6E5"/>
          </a:solidFill>
          <a:ln w="12700" cmpd="sng" cap="flat">
            <a:noFill/>
            <a:prstDash val="solid"/>
            <a:miter/>
          </a:ln>
        </p:spPr>
      </p:sp>
      <p:pic>
        <p:nvPicPr>
          <p:cNvPr id="213" name="图片" descr="preencoded.png"/>
          <p:cNvPicPr>
            <a:picLocks noChangeAspect="1"/>
          </p:cNvPicPr>
          <p:nvPr/>
        </p:nvPicPr>
        <p:blipFill>
          <a:blip r:embed="rId12" cstate="print"/>
          <a:stretch>
            <a:fillRect/>
          </a:stretch>
        </p:blipFill>
        <p:spPr>
          <a:xfrm rot="0">
            <a:off x="573584" y="4536430"/>
            <a:ext cx="96887" cy="77465"/>
          </a:xfrm>
          <a:prstGeom prst="rect"/>
          <a:noFill/>
          <a:ln w="12700" cmpd="sng" cap="flat">
            <a:noFill/>
            <a:prstDash val="solid"/>
            <a:miter/>
          </a:ln>
        </p:spPr>
      </p:pic>
      <p:sp>
        <p:nvSpPr>
          <p:cNvPr id="214" name="矩形"/>
          <p:cNvSpPr>
            <a:spLocks/>
          </p:cNvSpPr>
          <p:nvPr/>
        </p:nvSpPr>
        <p:spPr>
          <a:xfrm rot="0">
            <a:off x="747936" y="4503762"/>
            <a:ext cx="7822481" cy="201513"/>
          </a:xfrm>
          <a:prstGeom prst="rect"/>
          <a:noFill/>
          <a:ln w="12700" cmpd="sng" cap="flat">
            <a:noFill/>
            <a:prstDash val="solid"/>
            <a:miter/>
          </a:ln>
        </p:spPr>
        <p:txBody>
          <a:bodyPr vert="horz" wrap="square" lIns="0" tIns="0" rIns="0" bIns="0" anchor="t" anchorCtr="0">
            <a:prstTxWarp prst="textNoShape"/>
          </a:bodyPr>
          <a:lstStyle/>
          <a:p>
            <a:pPr marL="0" indent="0" algn="l">
              <a:lnSpc>
                <a:spcPct val="108000"/>
              </a:lnSpc>
              <a:spcBef>
                <a:spcPts val="0"/>
              </a:spcBef>
              <a:spcAft>
                <a:spcPts val="0"/>
              </a:spcAft>
              <a:buNone/>
            </a:pPr>
            <a:r>
              <a:rPr lang="en-US" altLang="zh-CN" sz="60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600" b="0" i="0" u="none" strike="noStrike" kern="1200" cap="none" spc="0" baseline="0">
                <a:solidFill>
                  <a:srgbClr val="000000"/>
                </a:solidFill>
                <a:latin typeface="Tomorrow" pitchFamily="34" charset="0"/>
                <a:ea typeface="Tomorrow" pitchFamily="34" charset="0"/>
                <a:cs typeface="Tomorrow" pitchFamily="34" charset="0"/>
              </a:rPr>
              <a:t> Read the conversation aloud to demonstrate how natural it feels. Then explain what's happening behind the scenes — this is where you impress technical evaluators with the architecture depth. Emphasize that all of this happens in a single conversation thread.</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1794356317"/>
      </p:ext>
    </p:extLst>
  </p:cSld>
  <p:clrMapOvr>
    <a:masterClrMapping/>
  </p:clrMapOvr>
</p:sld>
</file>

<file path=ppt/slides/slide9.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17" name="圆角矩形"/>
          <p:cNvSpPr>
            <a:spLocks/>
          </p:cNvSpPr>
          <p:nvPr/>
        </p:nvSpPr>
        <p:spPr>
          <a:xfrm rot="0">
            <a:off x="496119" y="344611"/>
            <a:ext cx="588093" cy="168473"/>
          </a:xfrm>
          <a:prstGeom prst="roundRect">
            <a:avLst>
              <a:gd name="adj" fmla="val 6902"/>
            </a:avLst>
          </a:prstGeom>
          <a:solidFill>
            <a:srgbClr val="E6E6E5"/>
          </a:solidFill>
          <a:ln w="12700" cmpd="sng" cap="flat">
            <a:noFill/>
            <a:prstDash val="solid"/>
            <a:miter/>
          </a:ln>
        </p:spPr>
      </p:sp>
      <p:sp>
        <p:nvSpPr>
          <p:cNvPr id="218" name="矩形"/>
          <p:cNvSpPr>
            <a:spLocks/>
          </p:cNvSpPr>
          <p:nvPr/>
        </p:nvSpPr>
        <p:spPr>
          <a:xfrm rot="0">
            <a:off x="554236" y="373633"/>
            <a:ext cx="929059" cy="110430"/>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600" b="0" i="0" u="none" strike="noStrike" kern="1200" cap="none" spc="0" baseline="0">
                <a:solidFill>
                  <a:srgbClr val="61615C"/>
                </a:solidFill>
                <a:latin typeface="Tomorrow" pitchFamily="34" charset="0"/>
                <a:ea typeface="Tomorrow" pitchFamily="34" charset="0"/>
                <a:cs typeface="Tomorrow" pitchFamily="34" charset="0"/>
              </a:rPr>
              <a:t>INNOVATION</a:t>
            </a:r>
            <a:endParaRPr lang="zh-CN" altLang="en-US" sz="600" b="0" i="0" u="none" strike="noStrike" kern="1200" cap="none" spc="0" baseline="0">
              <a:solidFill>
                <a:schemeClr val="tx1"/>
              </a:solidFill>
              <a:latin typeface="Calibri" pitchFamily="0" charset="0"/>
              <a:ea typeface="等线" pitchFamily="0" charset="0"/>
              <a:cs typeface="Calibri" pitchFamily="0" charset="0"/>
            </a:endParaRPr>
          </a:p>
        </p:txBody>
      </p:sp>
      <p:sp>
        <p:nvSpPr>
          <p:cNvPr id="219" name="矩形"/>
          <p:cNvSpPr>
            <a:spLocks/>
          </p:cNvSpPr>
          <p:nvPr/>
        </p:nvSpPr>
        <p:spPr>
          <a:xfrm rot="0">
            <a:off x="496119" y="543297"/>
            <a:ext cx="4268018" cy="302864"/>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900" b="0" i="0" u="none" strike="noStrike" kern="1200" cap="none" spc="0" baseline="0">
                <a:solidFill>
                  <a:srgbClr val="1D1D1B"/>
                </a:solidFill>
                <a:latin typeface="Tomorrow SemiBold" pitchFamily="34" charset="0"/>
                <a:ea typeface="Tomorrow SemiBold" pitchFamily="34" charset="0"/>
                <a:cs typeface="Tomorrow SemiBold" pitchFamily="34" charset="0"/>
              </a:rPr>
              <a:t>Why RecruitFlow AI Stands Out</a:t>
            </a:r>
            <a:endParaRPr lang="zh-CN" altLang="en-US" sz="1900" b="0" i="0" u="none" strike="noStrike" kern="1200" cap="none" spc="0" baseline="0">
              <a:solidFill>
                <a:schemeClr val="tx1"/>
              </a:solidFill>
              <a:latin typeface="Calibri" pitchFamily="0" charset="0"/>
              <a:ea typeface="等线" pitchFamily="0" charset="0"/>
              <a:cs typeface="Calibri" pitchFamily="0" charset="0"/>
            </a:endParaRPr>
          </a:p>
        </p:txBody>
      </p:sp>
      <p:sp>
        <p:nvSpPr>
          <p:cNvPr id="220" name="矩形"/>
          <p:cNvSpPr>
            <a:spLocks/>
          </p:cNvSpPr>
          <p:nvPr/>
        </p:nvSpPr>
        <p:spPr>
          <a:xfrm rot="0">
            <a:off x="496119" y="959718"/>
            <a:ext cx="8151763" cy="276075"/>
          </a:xfrm>
          <a:prstGeom prst="rect"/>
          <a:noFill/>
          <a:ln w="12700" cmpd="sng" cap="flat">
            <a:noFill/>
            <a:prstDash val="solid"/>
            <a:miter/>
          </a:ln>
        </p:spPr>
        <p:txBody>
          <a:bodyPr vert="horz" wrap="squar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Traditional hiring tools are rigid, manual, and opaque. RecruitFlow AI combines multi-agent intelligence, retrieval-augmented generation, and human oversight into a single, extensible platform — setting a new standard for AI-assisted recruitment.</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21" name="圆角矩形"/>
          <p:cNvSpPr>
            <a:spLocks/>
          </p:cNvSpPr>
          <p:nvPr/>
        </p:nvSpPr>
        <p:spPr>
          <a:xfrm rot="0">
            <a:off x="496119" y="1320924"/>
            <a:ext cx="8151763" cy="1706538"/>
          </a:xfrm>
          <a:prstGeom prst="roundRect">
            <a:avLst>
              <a:gd name="adj" fmla="val 851"/>
            </a:avLst>
          </a:prstGeom>
          <a:noFill/>
          <a:ln w="4763" cmpd="sng" cap="flat">
            <a:solidFill>
              <a:srgbClr val="000000">
                <a:alpha val="8000"/>
              </a:srgbClr>
            </a:solidFill>
            <a:prstDash val="solid"/>
            <a:round/>
          </a:ln>
        </p:spPr>
      </p:sp>
      <p:sp>
        <p:nvSpPr>
          <p:cNvPr id="222" name="矩形"/>
          <p:cNvSpPr>
            <a:spLocks/>
          </p:cNvSpPr>
          <p:nvPr/>
        </p:nvSpPr>
        <p:spPr>
          <a:xfrm rot="0">
            <a:off x="500881" y="1325686"/>
            <a:ext cx="4071119" cy="240729"/>
          </a:xfrm>
          <a:prstGeom prst="rect"/>
          <a:solidFill>
            <a:srgbClr val="1D1D1B"/>
          </a:solidFill>
          <a:ln w="12700" cmpd="sng" cap="flat">
            <a:noFill/>
            <a:prstDash val="solid"/>
            <a:miter/>
          </a:ln>
        </p:spPr>
      </p:sp>
      <p:sp>
        <p:nvSpPr>
          <p:cNvPr id="223" name="矩形"/>
          <p:cNvSpPr>
            <a:spLocks/>
          </p:cNvSpPr>
          <p:nvPr/>
        </p:nvSpPr>
        <p:spPr>
          <a:xfrm rot="0">
            <a:off x="597768" y="1375842"/>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1" i="0" u="none" strike="noStrike" kern="1200" cap="none" spc="0" baseline="0">
                <a:solidFill>
                  <a:srgbClr val="61615C"/>
                </a:solidFill>
                <a:latin typeface="Tomorrow Bold" pitchFamily="34" charset="0"/>
                <a:ea typeface="Tomorrow Bold" pitchFamily="34" charset="0"/>
                <a:cs typeface="Tomorrow Bold" pitchFamily="34" charset="0"/>
              </a:rPr>
              <a:t>Traditional Hiring</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24" name="矩形"/>
          <p:cNvSpPr>
            <a:spLocks/>
          </p:cNvSpPr>
          <p:nvPr/>
        </p:nvSpPr>
        <p:spPr>
          <a:xfrm rot="0">
            <a:off x="4671268" y="1375842"/>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1" i="0" u="none" strike="noStrike" kern="1200" cap="none" spc="0" baseline="0">
                <a:solidFill>
                  <a:srgbClr val="61615C"/>
                </a:solidFill>
                <a:latin typeface="Tomorrow Bold" pitchFamily="34" charset="0"/>
                <a:ea typeface="Tomorrow Bold" pitchFamily="34" charset="0"/>
                <a:cs typeface="Tomorrow Bold" pitchFamily="34" charset="0"/>
              </a:rPr>
              <a:t>RecruitFlow AI</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25" name="矩形"/>
          <p:cNvSpPr>
            <a:spLocks/>
          </p:cNvSpPr>
          <p:nvPr/>
        </p:nvSpPr>
        <p:spPr>
          <a:xfrm rot="0">
            <a:off x="597768" y="1618952"/>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Manual resume review — hours per role</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26" name="矩形"/>
          <p:cNvSpPr>
            <a:spLocks/>
          </p:cNvSpPr>
          <p:nvPr/>
        </p:nvSpPr>
        <p:spPr>
          <a:xfrm rot="0">
            <a:off x="4671268" y="1618952"/>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AI screening in seconds with confidence scores</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27" name="矩形"/>
          <p:cNvSpPr>
            <a:spLocks/>
          </p:cNvSpPr>
          <p:nvPr/>
        </p:nvSpPr>
        <p:spPr>
          <a:xfrm rot="0">
            <a:off x="597768" y="1862063"/>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Keyword-based, shallow matching</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28" name="矩形"/>
          <p:cNvSpPr>
            <a:spLocks/>
          </p:cNvSpPr>
          <p:nvPr/>
        </p:nvSpPr>
        <p:spPr>
          <a:xfrm rot="0">
            <a:off x="4671268" y="1862063"/>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Semantic RAG-based deep candidate matching</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29" name="矩形"/>
          <p:cNvSpPr>
            <a:spLocks/>
          </p:cNvSpPr>
          <p:nvPr/>
        </p:nvSpPr>
        <p:spPr>
          <a:xfrm rot="0">
            <a:off x="597768" y="2105174"/>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Generic, copy-paste interview questions</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0" name="矩形"/>
          <p:cNvSpPr>
            <a:spLocks/>
          </p:cNvSpPr>
          <p:nvPr/>
        </p:nvSpPr>
        <p:spPr>
          <a:xfrm rot="0">
            <a:off x="4671268" y="2105174"/>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Tailored questions per candidate and role</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1" name="矩形"/>
          <p:cNvSpPr>
            <a:spLocks/>
          </p:cNvSpPr>
          <p:nvPr/>
        </p:nvSpPr>
        <p:spPr>
          <a:xfrm rot="0">
            <a:off x="597768" y="2348285"/>
            <a:ext cx="4332163" cy="138037"/>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Salary decisions based on guesswork</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2" name="矩形"/>
          <p:cNvSpPr>
            <a:spLocks/>
          </p:cNvSpPr>
          <p:nvPr/>
        </p:nvSpPr>
        <p:spPr>
          <a:xfrm rot="0">
            <a:off x="4671268" y="2348285"/>
            <a:ext cx="4332163" cy="138037"/>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Real-time market salary estimation</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3" name="矩形"/>
          <p:cNvSpPr>
            <a:spLocks/>
          </p:cNvSpPr>
          <p:nvPr/>
        </p:nvSpPr>
        <p:spPr>
          <a:xfrm rot="0">
            <a:off x="597768" y="2591395"/>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No audit trail or explainability</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4" name="矩形"/>
          <p:cNvSpPr>
            <a:spLocks/>
          </p:cNvSpPr>
          <p:nvPr/>
        </p:nvSpPr>
        <p:spPr>
          <a:xfrm rot="0">
            <a:off x="4671268" y="2591395"/>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Full traceability with human-in-the-loop approval</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5" name="矩形"/>
          <p:cNvSpPr>
            <a:spLocks/>
          </p:cNvSpPr>
          <p:nvPr/>
        </p:nvSpPr>
        <p:spPr>
          <a:xfrm rot="0">
            <a:off x="597768" y="2834506"/>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Monolithic, hard-to-extend systems</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6" name="矩形"/>
          <p:cNvSpPr>
            <a:spLocks/>
          </p:cNvSpPr>
          <p:nvPr/>
        </p:nvSpPr>
        <p:spPr>
          <a:xfrm rot="0">
            <a:off x="4671268" y="2834506"/>
            <a:ext cx="4332163"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61615C"/>
                </a:solidFill>
                <a:latin typeface="Tomorrow" pitchFamily="34" charset="0"/>
                <a:ea typeface="Tomorrow" pitchFamily="34" charset="0"/>
                <a:cs typeface="Tomorrow" pitchFamily="34" charset="0"/>
              </a:rPr>
              <a:t>Modular, LangGraph-based extensible architecture</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7" name="圆角矩形"/>
          <p:cNvSpPr>
            <a:spLocks/>
          </p:cNvSpPr>
          <p:nvPr/>
        </p:nvSpPr>
        <p:spPr>
          <a:xfrm rot="0">
            <a:off x="496119" y="3112591"/>
            <a:ext cx="4038005" cy="528637"/>
          </a:xfrm>
          <a:prstGeom prst="roundRect">
            <a:avLst>
              <a:gd name="adj" fmla="val 2750"/>
            </a:avLst>
          </a:prstGeom>
          <a:solidFill>
            <a:srgbClr val="2563EB"/>
          </a:solidFill>
          <a:ln w="12700" cmpd="sng" cap="flat">
            <a:noFill/>
            <a:prstDash val="solid"/>
            <a:miter/>
          </a:ln>
        </p:spPr>
      </p:sp>
      <p:sp>
        <p:nvSpPr>
          <p:cNvPr id="238" name="矩形"/>
          <p:cNvSpPr>
            <a:spLocks/>
          </p:cNvSpPr>
          <p:nvPr/>
        </p:nvSpPr>
        <p:spPr>
          <a:xfrm rot="0">
            <a:off x="593006" y="3209479"/>
            <a:ext cx="1211387"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FFFFFF"/>
                </a:solidFill>
                <a:latin typeface="Tomorrow SemiBold" pitchFamily="34" charset="0"/>
                <a:ea typeface="Tomorrow SemiBold" pitchFamily="34" charset="0"/>
                <a:cs typeface="Tomorrow SemiBold" pitchFamily="34" charset="0"/>
              </a:rPr>
              <a:t>Multi-Agent AI</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239" name="矩形"/>
          <p:cNvSpPr>
            <a:spLocks/>
          </p:cNvSpPr>
          <p:nvPr/>
        </p:nvSpPr>
        <p:spPr>
          <a:xfrm rot="0">
            <a:off x="593006" y="3406304"/>
            <a:ext cx="3844230"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FFFFFF"/>
                </a:solidFill>
                <a:latin typeface="Tomorrow" pitchFamily="34" charset="0"/>
                <a:ea typeface="Tomorrow" pitchFamily="34" charset="0"/>
                <a:cs typeface="Tomorrow" pitchFamily="34" charset="0"/>
              </a:rPr>
              <a:t>Specialist agents for each hiring task</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0" name="圆角矩形"/>
          <p:cNvSpPr>
            <a:spLocks/>
          </p:cNvSpPr>
          <p:nvPr/>
        </p:nvSpPr>
        <p:spPr>
          <a:xfrm rot="0">
            <a:off x="4609802" y="3112591"/>
            <a:ext cx="4038078" cy="528637"/>
          </a:xfrm>
          <a:prstGeom prst="roundRect">
            <a:avLst>
              <a:gd name="adj" fmla="val 2750"/>
            </a:avLst>
          </a:prstGeom>
          <a:solidFill>
            <a:srgbClr val="2563EB"/>
          </a:solidFill>
          <a:ln w="12700" cmpd="sng" cap="flat">
            <a:noFill/>
            <a:prstDash val="solid"/>
            <a:miter/>
          </a:ln>
        </p:spPr>
      </p:sp>
      <p:sp>
        <p:nvSpPr>
          <p:cNvPr id="241" name="矩形"/>
          <p:cNvSpPr>
            <a:spLocks/>
          </p:cNvSpPr>
          <p:nvPr/>
        </p:nvSpPr>
        <p:spPr>
          <a:xfrm rot="0">
            <a:off x="4706689" y="3209479"/>
            <a:ext cx="1211387"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FFFFFF"/>
                </a:solidFill>
                <a:latin typeface="Tomorrow SemiBold" pitchFamily="34" charset="0"/>
                <a:ea typeface="Tomorrow SemiBold" pitchFamily="34" charset="0"/>
                <a:cs typeface="Tomorrow SemiBold" pitchFamily="34" charset="0"/>
              </a:rPr>
              <a:t>Resume RAG</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2" name="矩形"/>
          <p:cNvSpPr>
            <a:spLocks/>
          </p:cNvSpPr>
          <p:nvPr/>
        </p:nvSpPr>
        <p:spPr>
          <a:xfrm rot="0">
            <a:off x="4706689" y="3406304"/>
            <a:ext cx="3844305"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FFFFFF"/>
                </a:solidFill>
                <a:latin typeface="Tomorrow" pitchFamily="34" charset="0"/>
                <a:ea typeface="Tomorrow" pitchFamily="34" charset="0"/>
                <a:cs typeface="Tomorrow" pitchFamily="34" charset="0"/>
              </a:rPr>
              <a:t>Semantic search over candidate documents</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3" name="圆角矩形"/>
          <p:cNvSpPr>
            <a:spLocks/>
          </p:cNvSpPr>
          <p:nvPr/>
        </p:nvSpPr>
        <p:spPr>
          <a:xfrm rot="0">
            <a:off x="496119" y="3716908"/>
            <a:ext cx="4038005" cy="528637"/>
          </a:xfrm>
          <a:prstGeom prst="roundRect">
            <a:avLst>
              <a:gd name="adj" fmla="val 2750"/>
            </a:avLst>
          </a:prstGeom>
          <a:solidFill>
            <a:srgbClr val="2563EB"/>
          </a:solidFill>
          <a:ln w="12700" cmpd="sng" cap="flat">
            <a:noFill/>
            <a:prstDash val="solid"/>
            <a:miter/>
          </a:ln>
        </p:spPr>
      </p:sp>
      <p:sp>
        <p:nvSpPr>
          <p:cNvPr id="244" name="矩形"/>
          <p:cNvSpPr>
            <a:spLocks/>
          </p:cNvSpPr>
          <p:nvPr/>
        </p:nvSpPr>
        <p:spPr>
          <a:xfrm rot="0">
            <a:off x="593006" y="3813795"/>
            <a:ext cx="1235199"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FFFFFF"/>
                </a:solidFill>
                <a:latin typeface="Tomorrow SemiBold" pitchFamily="34" charset="0"/>
                <a:ea typeface="Tomorrow SemiBold" pitchFamily="34" charset="0"/>
                <a:cs typeface="Tomorrow SemiBold" pitchFamily="34" charset="0"/>
              </a:rPr>
              <a:t>Human-in-the-Loop</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5" name="矩形"/>
          <p:cNvSpPr>
            <a:spLocks/>
          </p:cNvSpPr>
          <p:nvPr/>
        </p:nvSpPr>
        <p:spPr>
          <a:xfrm rot="0">
            <a:off x="593006" y="4010620"/>
            <a:ext cx="3844230"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FFFFFF"/>
                </a:solidFill>
                <a:latin typeface="Tomorrow" pitchFamily="34" charset="0"/>
                <a:ea typeface="Tomorrow" pitchFamily="34" charset="0"/>
                <a:cs typeface="Tomorrow" pitchFamily="34" charset="0"/>
              </a:rPr>
              <a:t>AI recommends, humans decide</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6" name="圆角矩形"/>
          <p:cNvSpPr>
            <a:spLocks/>
          </p:cNvSpPr>
          <p:nvPr/>
        </p:nvSpPr>
        <p:spPr>
          <a:xfrm rot="0">
            <a:off x="4609802" y="3716908"/>
            <a:ext cx="4038078" cy="528637"/>
          </a:xfrm>
          <a:prstGeom prst="roundRect">
            <a:avLst>
              <a:gd name="adj" fmla="val 2750"/>
            </a:avLst>
          </a:prstGeom>
          <a:solidFill>
            <a:srgbClr val="2563EB"/>
          </a:solidFill>
          <a:ln w="12700" cmpd="sng" cap="flat">
            <a:noFill/>
            <a:prstDash val="solid"/>
            <a:miter/>
          </a:ln>
        </p:spPr>
      </p:sp>
      <p:sp>
        <p:nvSpPr>
          <p:cNvPr id="247" name="矩形"/>
          <p:cNvSpPr>
            <a:spLocks/>
          </p:cNvSpPr>
          <p:nvPr/>
        </p:nvSpPr>
        <p:spPr>
          <a:xfrm rot="0">
            <a:off x="4706689" y="3813795"/>
            <a:ext cx="1211387" cy="1514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950" b="0" i="0" u="none" strike="noStrike" kern="1200" cap="none" spc="0" baseline="0">
                <a:solidFill>
                  <a:srgbClr val="FFFFFF"/>
                </a:solidFill>
                <a:latin typeface="Tomorrow SemiBold" pitchFamily="34" charset="0"/>
                <a:ea typeface="Tomorrow SemiBold" pitchFamily="34" charset="0"/>
                <a:cs typeface="Tomorrow SemiBold" pitchFamily="34" charset="0"/>
              </a:rPr>
              <a:t>Extensible Platform</a:t>
            </a:r>
            <a:endParaRPr lang="zh-CN" altLang="en-US" sz="9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8" name="矩形"/>
          <p:cNvSpPr>
            <a:spLocks/>
          </p:cNvSpPr>
          <p:nvPr/>
        </p:nvSpPr>
        <p:spPr>
          <a:xfrm rot="0">
            <a:off x="4706689" y="4010620"/>
            <a:ext cx="3844305" cy="138038"/>
          </a:xfrm>
          <a:prstGeom prst="rect"/>
          <a:noFill/>
          <a:ln w="12700" cmpd="sng" cap="flat">
            <a:noFill/>
            <a:prstDash val="solid"/>
            <a:miter/>
          </a:ln>
        </p:spPr>
        <p:txBody>
          <a:bodyPr vert="horz" wrap="none" lIns="0" tIns="0" rIns="0" bIns="0" anchor="t" anchorCtr="0">
            <a:prstTxWarp prst="textNoShape"/>
          </a:bodyPr>
          <a:lstStyle/>
          <a:p>
            <a:pPr marL="0" indent="0" algn="l">
              <a:lnSpc>
                <a:spcPct val="119000"/>
              </a:lnSpc>
              <a:spcBef>
                <a:spcPts val="0"/>
              </a:spcBef>
              <a:spcAft>
                <a:spcPts val="0"/>
              </a:spcAft>
              <a:buNone/>
            </a:pPr>
            <a:r>
              <a:rPr lang="en-US" altLang="zh-CN" sz="750" b="0" i="0" u="none" strike="noStrike" kern="1200" cap="none" spc="0" baseline="0">
                <a:solidFill>
                  <a:srgbClr val="FFFFFF"/>
                </a:solidFill>
                <a:latin typeface="Tomorrow" pitchFamily="34" charset="0"/>
                <a:ea typeface="Tomorrow" pitchFamily="34" charset="0"/>
                <a:cs typeface="Tomorrow" pitchFamily="34" charset="0"/>
              </a:rPr>
              <a:t>Add agents and integrations easily</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49" name="圆角矩形"/>
          <p:cNvSpPr>
            <a:spLocks/>
          </p:cNvSpPr>
          <p:nvPr/>
        </p:nvSpPr>
        <p:spPr>
          <a:xfrm rot="0">
            <a:off x="496119" y="4330675"/>
            <a:ext cx="8151763" cy="468212"/>
          </a:xfrm>
          <a:prstGeom prst="roundRect">
            <a:avLst>
              <a:gd name="adj" fmla="val 3106"/>
            </a:avLst>
          </a:prstGeom>
          <a:solidFill>
            <a:srgbClr val="E6E6E5"/>
          </a:solidFill>
          <a:ln w="12700" cmpd="sng" cap="flat">
            <a:noFill/>
            <a:prstDash val="solid"/>
            <a:miter/>
          </a:ln>
        </p:spPr>
      </p:sp>
      <p:pic>
        <p:nvPicPr>
          <p:cNvPr id="250" name="图片" descr="preencoded.png"/>
          <p:cNvPicPr>
            <a:picLocks noChangeAspect="1"/>
          </p:cNvPicPr>
          <p:nvPr/>
        </p:nvPicPr>
        <p:blipFill>
          <a:blip r:embed="rId1" cstate="print"/>
          <a:stretch>
            <a:fillRect/>
          </a:stretch>
        </p:blipFill>
        <p:spPr>
          <a:xfrm rot="0">
            <a:off x="593006" y="4457402"/>
            <a:ext cx="121071" cy="96887"/>
          </a:xfrm>
          <a:prstGeom prst="rect"/>
          <a:noFill/>
          <a:ln w="12700" cmpd="sng" cap="flat">
            <a:noFill/>
            <a:prstDash val="solid"/>
            <a:miter/>
          </a:ln>
        </p:spPr>
      </p:pic>
      <p:sp>
        <p:nvSpPr>
          <p:cNvPr id="251" name="矩形"/>
          <p:cNvSpPr>
            <a:spLocks/>
          </p:cNvSpPr>
          <p:nvPr/>
        </p:nvSpPr>
        <p:spPr>
          <a:xfrm rot="0">
            <a:off x="810963" y="4430539"/>
            <a:ext cx="7740030" cy="276076"/>
          </a:xfrm>
          <a:prstGeom prst="rect"/>
          <a:noFill/>
          <a:ln w="12700" cmpd="sng" cap="flat">
            <a:noFill/>
            <a:prstDash val="solid"/>
            <a:miter/>
          </a:ln>
        </p:spPr>
        <p:txBody>
          <a:bodyPr vert="horz" wrap="square" lIns="0" tIns="0" rIns="0" bIns="0" anchor="t" anchorCtr="0">
            <a:prstTxWarp prst="textNoShape"/>
          </a:bodyPr>
          <a:lstStyle/>
          <a:p>
            <a:pPr marL="0" indent="0" algn="l">
              <a:lnSpc>
                <a:spcPct val="119000"/>
              </a:lnSpc>
              <a:spcBef>
                <a:spcPts val="0"/>
              </a:spcBef>
              <a:spcAft>
                <a:spcPts val="0"/>
              </a:spcAft>
              <a:buNone/>
            </a:pPr>
            <a:r>
              <a:rPr lang="en-US" altLang="zh-CN" sz="75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750" b="0" i="0" u="none" strike="noStrike" kern="1200" cap="none" spc="0" baseline="0">
                <a:solidFill>
                  <a:srgbClr val="000000"/>
                </a:solidFill>
                <a:latin typeface="Tomorrow" pitchFamily="34" charset="0"/>
                <a:ea typeface="Tomorrow" pitchFamily="34" charset="0"/>
                <a:cs typeface="Tomorrow" pitchFamily="34" charset="0"/>
              </a:rPr>
              <a:t> Use the comparison table to drive the point home — RecruitFlow isn't an incremental improvement, it's a paradigm shift. For investors and judges, emphasize the modular architecture and extensibility as a long-term moat.</a:t>
            </a:r>
            <a:endParaRPr lang="zh-CN" altLang="en-US" sz="75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900259237"/>
      </p:ext>
    </p:extLst>
  </p:cSld>
  <p:clrMapOvr>
    <a:masterClrMapping/>
  </p:clrMapOvr>
</p:sld>
</file>

<file path=ppt/slides/slide10.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54" name="圆角矩形"/>
          <p:cNvSpPr>
            <a:spLocks/>
          </p:cNvSpPr>
          <p:nvPr/>
        </p:nvSpPr>
        <p:spPr>
          <a:xfrm rot="0">
            <a:off x="496119" y="368350"/>
            <a:ext cx="456233" cy="151507"/>
          </a:xfrm>
          <a:prstGeom prst="roundRect">
            <a:avLst>
              <a:gd name="adj" fmla="val 7060"/>
            </a:avLst>
          </a:prstGeom>
          <a:noFill/>
          <a:ln w="12700" cmpd="sng" cap="flat">
            <a:noFill/>
            <a:prstDash val="solid"/>
            <a:miter/>
          </a:ln>
          <a:effectLst>
            <a:outerShdw sx="100000" sy="100000" algn="bl" rotWithShape="0" blurRad="101600" dist="50800" dir="16200000">
              <a:srgbClr val="1D1D1B">
                <a:alpha val="99607"/>
              </a:srgbClr>
            </a:outerShdw>
          </a:effectLst>
        </p:spPr>
      </p:sp>
      <p:sp>
        <p:nvSpPr>
          <p:cNvPr id="255" name="矩形"/>
          <p:cNvSpPr>
            <a:spLocks/>
          </p:cNvSpPr>
          <p:nvPr/>
        </p:nvSpPr>
        <p:spPr>
          <a:xfrm rot="0">
            <a:off x="549548" y="395063"/>
            <a:ext cx="806574" cy="98077"/>
          </a:xfrm>
          <a:prstGeom prst="rect"/>
          <a:noFill/>
          <a:ln w="12700" cmpd="sng" cap="flat">
            <a:noFill/>
            <a:prstDash val="solid"/>
            <a:miter/>
          </a:ln>
        </p:spPr>
        <p:txBody>
          <a:bodyPr vert="horz" wrap="none" lIns="0" tIns="0" rIns="0" bIns="0" anchor="t" anchorCtr="0">
            <a:prstTxWarp prst="textNoShape"/>
          </a:bodyPr>
          <a:lstStyle/>
          <a:p>
            <a:pPr marL="0" indent="0" algn="l">
              <a:lnSpc>
                <a:spcPct val="115000"/>
              </a:lnSpc>
              <a:spcBef>
                <a:spcPts val="0"/>
              </a:spcBef>
              <a:spcAft>
                <a:spcPts val="0"/>
              </a:spcAft>
              <a:buNone/>
            </a:pPr>
            <a:r>
              <a:rPr lang="en-US" altLang="zh-CN" sz="550" b="0" i="0" u="none" strike="noStrike" kern="1200" cap="none" spc="0" baseline="0">
                <a:solidFill>
                  <a:srgbClr val="1D1D1B"/>
                </a:solidFill>
                <a:latin typeface="Tomorrow" pitchFamily="34" charset="0"/>
                <a:ea typeface="Tomorrow" pitchFamily="34" charset="0"/>
                <a:cs typeface="Tomorrow" pitchFamily="34" charset="0"/>
              </a:rPr>
              <a:t>ROADMAP</a:t>
            </a:r>
            <a:endParaRPr lang="zh-CN" altLang="en-US" sz="550" b="0" i="0" u="none" strike="noStrike" kern="1200" cap="none" spc="0" baseline="0">
              <a:solidFill>
                <a:schemeClr val="tx1"/>
              </a:solidFill>
              <a:latin typeface="Calibri" pitchFamily="0" charset="0"/>
              <a:ea typeface="等线" pitchFamily="0" charset="0"/>
              <a:cs typeface="Calibri" pitchFamily="0" charset="0"/>
            </a:endParaRPr>
          </a:p>
        </p:txBody>
      </p:sp>
      <p:sp>
        <p:nvSpPr>
          <p:cNvPr id="256" name="矩形"/>
          <p:cNvSpPr>
            <a:spLocks/>
          </p:cNvSpPr>
          <p:nvPr/>
        </p:nvSpPr>
        <p:spPr>
          <a:xfrm rot="0">
            <a:off x="496119" y="545455"/>
            <a:ext cx="3876080" cy="278532"/>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750" b="0" i="0" u="none" strike="noStrike" kern="1200" cap="none" spc="0" baseline="0">
                <a:solidFill>
                  <a:srgbClr val="1D1D1B"/>
                </a:solidFill>
                <a:latin typeface="Tomorrow SemiBold" pitchFamily="34" charset="0"/>
                <a:ea typeface="Tomorrow SemiBold" pitchFamily="34" charset="0"/>
                <a:cs typeface="Tomorrow SemiBold" pitchFamily="34" charset="0"/>
              </a:rPr>
              <a:t>What's Next for RecruitFlow AI</a:t>
            </a:r>
            <a:endParaRPr lang="zh-CN" altLang="en-US" sz="1750" b="0" i="0" u="none" strike="noStrike" kern="1200" cap="none" spc="0" baseline="0">
              <a:solidFill>
                <a:schemeClr val="tx1"/>
              </a:solidFill>
              <a:latin typeface="Calibri" pitchFamily="0" charset="0"/>
              <a:ea typeface="等线" pitchFamily="0" charset="0"/>
              <a:cs typeface="Calibri" pitchFamily="0" charset="0"/>
            </a:endParaRPr>
          </a:p>
        </p:txBody>
      </p:sp>
      <p:sp>
        <p:nvSpPr>
          <p:cNvPr id="257" name="矩形"/>
          <p:cNvSpPr>
            <a:spLocks/>
          </p:cNvSpPr>
          <p:nvPr/>
        </p:nvSpPr>
        <p:spPr>
          <a:xfrm rot="0">
            <a:off x="496119" y="920054"/>
            <a:ext cx="8151763" cy="245119"/>
          </a:xfrm>
          <a:prstGeom prst="rect"/>
          <a:noFill/>
          <a:ln w="12700" cmpd="sng" cap="flat">
            <a:noFill/>
            <a:prstDash val="solid"/>
            <a:miter/>
          </a:ln>
        </p:spPr>
        <p:txBody>
          <a:bodyPr vert="horz" wrap="square" lIns="0" tIns="0" rIns="0" bIns="0" anchor="t" anchorCtr="0">
            <a:prstTxWarp prst="textNoShape"/>
          </a:bodyPr>
          <a:lstStyle/>
          <a:p>
            <a:pPr marL="0" indent="0" algn="l">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Our roadmap transforms RecruitFlow AI from a powerful prototype into a full-scale, enterprise-ready recruitment platform — with integrations, automation, and intelligence at every layer of the hiring stack.</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58" name="圆角矩形"/>
          <p:cNvSpPr>
            <a:spLocks/>
          </p:cNvSpPr>
          <p:nvPr/>
        </p:nvSpPr>
        <p:spPr>
          <a:xfrm rot="0">
            <a:off x="496119" y="1804913"/>
            <a:ext cx="8151763" cy="9525"/>
          </a:xfrm>
          <a:prstGeom prst="roundRect">
            <a:avLst>
              <a:gd name="adj" fmla="val 140407"/>
            </a:avLst>
          </a:prstGeom>
          <a:solidFill>
            <a:srgbClr val="D6D0D0"/>
          </a:solidFill>
          <a:ln w="12700" cmpd="sng" cap="flat">
            <a:noFill/>
            <a:prstDash val="solid"/>
            <a:miter/>
          </a:ln>
        </p:spPr>
      </p:sp>
      <p:sp>
        <p:nvSpPr>
          <p:cNvPr id="259" name="圆角矩形"/>
          <p:cNvSpPr>
            <a:spLocks/>
          </p:cNvSpPr>
          <p:nvPr/>
        </p:nvSpPr>
        <p:spPr>
          <a:xfrm rot="0">
            <a:off x="2509242" y="1626654"/>
            <a:ext cx="9525" cy="178295"/>
          </a:xfrm>
          <a:prstGeom prst="roundRect">
            <a:avLst>
              <a:gd name="adj" fmla="val 140407"/>
            </a:avLst>
          </a:prstGeom>
          <a:solidFill>
            <a:srgbClr val="D6D0D0"/>
          </a:solidFill>
          <a:ln w="12700" cmpd="sng" cap="flat">
            <a:noFill/>
            <a:prstDash val="solid"/>
            <a:miter/>
          </a:ln>
        </p:spPr>
      </p:sp>
      <p:sp>
        <p:nvSpPr>
          <p:cNvPr id="260" name="椭圆"/>
          <p:cNvSpPr>
            <a:spLocks/>
          </p:cNvSpPr>
          <p:nvPr/>
        </p:nvSpPr>
        <p:spPr>
          <a:xfrm rot="0">
            <a:off x="2480593" y="1771464"/>
            <a:ext cx="66823" cy="66823"/>
          </a:xfrm>
          <a:prstGeom prst="ellipse"/>
          <a:solidFill>
            <a:srgbClr val="1D1D1B"/>
          </a:solidFill>
          <a:ln w="12700" cmpd="sng" cap="flat">
            <a:noFill/>
            <a:prstDash val="solid"/>
            <a:miter/>
          </a:ln>
        </p:spPr>
      </p:sp>
      <p:sp>
        <p:nvSpPr>
          <p:cNvPr id="261" name="矩形"/>
          <p:cNvSpPr>
            <a:spLocks/>
          </p:cNvSpPr>
          <p:nvPr/>
        </p:nvSpPr>
        <p:spPr>
          <a:xfrm rot="0">
            <a:off x="1650057" y="1237208"/>
            <a:ext cx="1727894" cy="139303"/>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850" b="0" i="0" u="none" strike="noStrike" kern="1200" cap="none" spc="0" baseline="0">
                <a:solidFill>
                  <a:srgbClr val="61615C"/>
                </a:solidFill>
                <a:latin typeface="Tomorrow SemiBold" pitchFamily="34" charset="0"/>
                <a:ea typeface="Tomorrow SemiBold" pitchFamily="34" charset="0"/>
                <a:cs typeface="Tomorrow SemiBold" pitchFamily="34" charset="0"/>
              </a:rPr>
              <a:t>Phase 1 — Core Enhancements</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262" name="矩形"/>
          <p:cNvSpPr>
            <a:spLocks/>
          </p:cNvSpPr>
          <p:nvPr/>
        </p:nvSpPr>
        <p:spPr>
          <a:xfrm rot="0">
            <a:off x="585267" y="1414909"/>
            <a:ext cx="3857551" cy="122559"/>
          </a:xfrm>
          <a:prstGeom prst="rect"/>
          <a:noFill/>
          <a:ln w="12700" cmpd="sng" cap="flat">
            <a:noFill/>
            <a:prstDash val="solid"/>
            <a:miter/>
          </a:ln>
        </p:spPr>
        <p:txBody>
          <a:bodyPr vert="horz" wrap="none" lIns="0" tIns="0" rIns="0" bIns="0" anchor="t" anchorCtr="0">
            <a:prstTxWarp prst="textNoShape"/>
          </a:bodyPr>
          <a:lstStyle/>
          <a:p>
            <a:pPr marL="0" indent="0" algn="ctr">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ATS Integration · LinkedIn Integration · Email Automation</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63" name="圆角矩形"/>
          <p:cNvSpPr>
            <a:spLocks/>
          </p:cNvSpPr>
          <p:nvPr/>
        </p:nvSpPr>
        <p:spPr>
          <a:xfrm rot="0">
            <a:off x="4567163" y="1804876"/>
            <a:ext cx="9525" cy="178295"/>
          </a:xfrm>
          <a:prstGeom prst="roundRect">
            <a:avLst>
              <a:gd name="adj" fmla="val 140407"/>
            </a:avLst>
          </a:prstGeom>
          <a:solidFill>
            <a:srgbClr val="D6D0D0"/>
          </a:solidFill>
          <a:ln w="12700" cmpd="sng" cap="flat">
            <a:noFill/>
            <a:prstDash val="solid"/>
            <a:miter/>
          </a:ln>
        </p:spPr>
      </p:sp>
      <p:sp>
        <p:nvSpPr>
          <p:cNvPr id="264" name="椭圆"/>
          <p:cNvSpPr>
            <a:spLocks/>
          </p:cNvSpPr>
          <p:nvPr/>
        </p:nvSpPr>
        <p:spPr>
          <a:xfrm rot="0">
            <a:off x="4538514" y="1771464"/>
            <a:ext cx="66823" cy="66823"/>
          </a:xfrm>
          <a:prstGeom prst="ellipse"/>
          <a:solidFill>
            <a:srgbClr val="1D1D1B"/>
          </a:solidFill>
          <a:ln w="12700" cmpd="sng" cap="flat">
            <a:noFill/>
            <a:prstDash val="solid"/>
            <a:miter/>
          </a:ln>
        </p:spPr>
      </p:sp>
      <p:sp>
        <p:nvSpPr>
          <p:cNvPr id="265" name="矩形"/>
          <p:cNvSpPr>
            <a:spLocks/>
          </p:cNvSpPr>
          <p:nvPr/>
        </p:nvSpPr>
        <p:spPr>
          <a:xfrm rot="0">
            <a:off x="3761481" y="2072357"/>
            <a:ext cx="1620886" cy="139303"/>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850" b="0" i="0" u="none" strike="noStrike" kern="1200" cap="none" spc="0" baseline="0">
                <a:solidFill>
                  <a:srgbClr val="61615C"/>
                </a:solidFill>
                <a:latin typeface="Tomorrow SemiBold" pitchFamily="34" charset="0"/>
                <a:ea typeface="Tomorrow SemiBold" pitchFamily="34" charset="0"/>
                <a:cs typeface="Tomorrow SemiBold" pitchFamily="34" charset="0"/>
              </a:rPr>
              <a:t>Phase 2 — Intelligence Layer</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266" name="矩形"/>
          <p:cNvSpPr>
            <a:spLocks/>
          </p:cNvSpPr>
          <p:nvPr/>
        </p:nvSpPr>
        <p:spPr>
          <a:xfrm rot="0">
            <a:off x="2643188" y="2250058"/>
            <a:ext cx="3857551" cy="122559"/>
          </a:xfrm>
          <a:prstGeom prst="rect"/>
          <a:noFill/>
          <a:ln w="12700" cmpd="sng" cap="flat">
            <a:noFill/>
            <a:prstDash val="solid"/>
            <a:miter/>
          </a:ln>
        </p:spPr>
        <p:txBody>
          <a:bodyPr vert="horz" wrap="none" lIns="0" tIns="0" rIns="0" bIns="0" anchor="t" anchorCtr="0">
            <a:prstTxWarp prst="textNoShape"/>
          </a:bodyPr>
          <a:lstStyle/>
          <a:p>
            <a:pPr marL="0" indent="0" algn="ctr">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Analytics Dashboard · HR Portal · Calendar Scheduling</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67" name="圆角矩形"/>
          <p:cNvSpPr>
            <a:spLocks/>
          </p:cNvSpPr>
          <p:nvPr/>
        </p:nvSpPr>
        <p:spPr>
          <a:xfrm rot="0">
            <a:off x="6625158" y="1626654"/>
            <a:ext cx="9524" cy="178295"/>
          </a:xfrm>
          <a:prstGeom prst="roundRect">
            <a:avLst>
              <a:gd name="adj" fmla="val 140407"/>
            </a:avLst>
          </a:prstGeom>
          <a:solidFill>
            <a:srgbClr val="D6D0D0"/>
          </a:solidFill>
          <a:ln w="12700" cmpd="sng" cap="flat">
            <a:noFill/>
            <a:prstDash val="solid"/>
            <a:miter/>
          </a:ln>
        </p:spPr>
      </p:sp>
      <p:sp>
        <p:nvSpPr>
          <p:cNvPr id="268" name="椭圆"/>
          <p:cNvSpPr>
            <a:spLocks/>
          </p:cNvSpPr>
          <p:nvPr/>
        </p:nvSpPr>
        <p:spPr>
          <a:xfrm rot="0">
            <a:off x="6596509" y="1771464"/>
            <a:ext cx="66823" cy="66823"/>
          </a:xfrm>
          <a:prstGeom prst="ellipse"/>
          <a:solidFill>
            <a:srgbClr val="1D1D1B"/>
          </a:solidFill>
          <a:ln w="12700" cmpd="sng" cap="flat">
            <a:noFill/>
            <a:prstDash val="solid"/>
            <a:miter/>
          </a:ln>
        </p:spPr>
      </p:sp>
      <p:sp>
        <p:nvSpPr>
          <p:cNvPr id="269" name="矩形"/>
          <p:cNvSpPr>
            <a:spLocks/>
          </p:cNvSpPr>
          <p:nvPr/>
        </p:nvSpPr>
        <p:spPr>
          <a:xfrm rot="0">
            <a:off x="5926113" y="1237208"/>
            <a:ext cx="1407615" cy="139303"/>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850" b="0" i="0" u="none" strike="noStrike" kern="1200" cap="none" spc="0" baseline="0">
                <a:solidFill>
                  <a:srgbClr val="61615C"/>
                </a:solidFill>
                <a:latin typeface="Tomorrow SemiBold" pitchFamily="34" charset="0"/>
                <a:ea typeface="Tomorrow SemiBold" pitchFamily="34" charset="0"/>
                <a:cs typeface="Tomorrow SemiBold" pitchFamily="34" charset="0"/>
              </a:rPr>
              <a:t>Phase 3 — Scale &amp; Reach</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270" name="矩形"/>
          <p:cNvSpPr>
            <a:spLocks/>
          </p:cNvSpPr>
          <p:nvPr/>
        </p:nvSpPr>
        <p:spPr>
          <a:xfrm rot="0">
            <a:off x="4701183" y="1414909"/>
            <a:ext cx="3857551" cy="122559"/>
          </a:xfrm>
          <a:prstGeom prst="rect"/>
          <a:noFill/>
          <a:ln w="12700" cmpd="sng" cap="flat">
            <a:noFill/>
            <a:prstDash val="solid"/>
            <a:miter/>
          </a:ln>
        </p:spPr>
        <p:txBody>
          <a:bodyPr vert="horz" wrap="none" lIns="0" tIns="0" rIns="0" bIns="0" anchor="t" anchorCtr="0">
            <a:prstTxWarp prst="textNoShape"/>
          </a:bodyPr>
          <a:lstStyle/>
          <a:p>
            <a:pPr marL="0" indent="0" algn="ctr">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Voice Assistant · Multi-language Support · Cloud Deployment</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1" name="矩形"/>
          <p:cNvSpPr>
            <a:spLocks/>
          </p:cNvSpPr>
          <p:nvPr/>
        </p:nvSpPr>
        <p:spPr>
          <a:xfrm rot="0">
            <a:off x="496119" y="2489225"/>
            <a:ext cx="2663874" cy="294233"/>
          </a:xfrm>
          <a:prstGeom prst="rect"/>
          <a:noFill/>
          <a:ln w="12700" cmpd="sng" cap="flat">
            <a:noFill/>
            <a:prstDash val="solid"/>
            <a:miter/>
          </a:ln>
        </p:spPr>
        <p:txBody>
          <a:bodyPr vert="horz" wrap="none" lIns="0" tIns="0" rIns="0" bIns="0" anchor="t" anchorCtr="0">
            <a:prstTxWarp prst="textNoShape"/>
          </a:bodyPr>
          <a:lstStyle/>
          <a:p>
            <a:pPr marL="0" indent="0" algn="ctr">
              <a:lnSpc>
                <a:spcPct val="83000"/>
              </a:lnSpc>
              <a:spcBef>
                <a:spcPts val="0"/>
              </a:spcBef>
              <a:spcAft>
                <a:spcPts val="0"/>
              </a:spcAft>
              <a:buNone/>
            </a:pPr>
            <a:r>
              <a:rPr lang="en-US" altLang="zh-CN" sz="2300" b="0" i="0" u="none" strike="noStrike" kern="1200" cap="none" spc="0" baseline="0">
                <a:solidFill>
                  <a:srgbClr val="61615C"/>
                </a:solidFill>
                <a:latin typeface="Tomorrow SemiBold" pitchFamily="34" charset="0"/>
                <a:ea typeface="Tomorrow SemiBold" pitchFamily="34" charset="0"/>
                <a:cs typeface="Tomorrow SemiBold" pitchFamily="34" charset="0"/>
              </a:rPr>
              <a:t>9</a:t>
            </a:r>
            <a:endParaRPr lang="zh-CN" altLang="en-US" sz="2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2" name="矩形"/>
          <p:cNvSpPr>
            <a:spLocks/>
          </p:cNvSpPr>
          <p:nvPr/>
        </p:nvSpPr>
        <p:spPr>
          <a:xfrm rot="0">
            <a:off x="1270843" y="2876028"/>
            <a:ext cx="1114425" cy="139303"/>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850" b="0" i="0" u="none" strike="noStrike" kern="1200" cap="none" spc="0" baseline="0">
                <a:solidFill>
                  <a:srgbClr val="61615C"/>
                </a:solidFill>
                <a:latin typeface="Tomorrow SemiBold" pitchFamily="34" charset="0"/>
                <a:ea typeface="Tomorrow SemiBold" pitchFamily="34" charset="0"/>
                <a:cs typeface="Tomorrow SemiBold" pitchFamily="34" charset="0"/>
              </a:rPr>
              <a:t>Planned Features</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273" name="矩形"/>
          <p:cNvSpPr>
            <a:spLocks/>
          </p:cNvSpPr>
          <p:nvPr/>
        </p:nvSpPr>
        <p:spPr>
          <a:xfrm rot="0">
            <a:off x="496119" y="3053729"/>
            <a:ext cx="2663874" cy="122560"/>
          </a:xfrm>
          <a:prstGeom prst="rect"/>
          <a:noFill/>
          <a:ln w="12700" cmpd="sng" cap="flat">
            <a:noFill/>
            <a:prstDash val="solid"/>
            <a:miter/>
          </a:ln>
        </p:spPr>
        <p:txBody>
          <a:bodyPr vert="horz" wrap="none" lIns="0" tIns="0" rIns="0" bIns="0" anchor="t" anchorCtr="0">
            <a:prstTxWarp prst="textNoShape"/>
          </a:bodyPr>
          <a:lstStyle/>
          <a:p>
            <a:pPr marL="0" indent="0" algn="ctr">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Across three development phases</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4" name="矩形"/>
          <p:cNvSpPr>
            <a:spLocks/>
          </p:cNvSpPr>
          <p:nvPr/>
        </p:nvSpPr>
        <p:spPr>
          <a:xfrm rot="0">
            <a:off x="3240063" y="2489225"/>
            <a:ext cx="2663875" cy="294233"/>
          </a:xfrm>
          <a:prstGeom prst="rect"/>
          <a:noFill/>
          <a:ln w="12700" cmpd="sng" cap="flat">
            <a:noFill/>
            <a:prstDash val="solid"/>
            <a:miter/>
          </a:ln>
        </p:spPr>
        <p:txBody>
          <a:bodyPr vert="horz" wrap="none" lIns="0" tIns="0" rIns="0" bIns="0" anchor="t" anchorCtr="0">
            <a:prstTxWarp prst="textNoShape"/>
          </a:bodyPr>
          <a:lstStyle/>
          <a:p>
            <a:pPr marL="0" indent="0" algn="ctr">
              <a:lnSpc>
                <a:spcPct val="83000"/>
              </a:lnSpc>
              <a:spcBef>
                <a:spcPts val="0"/>
              </a:spcBef>
              <a:spcAft>
                <a:spcPts val="0"/>
              </a:spcAft>
              <a:buNone/>
            </a:pPr>
            <a:r>
              <a:rPr lang="en-US" altLang="zh-CN" sz="2300" b="0" i="0" u="none" strike="noStrike" kern="1200" cap="none" spc="0" baseline="0">
                <a:solidFill>
                  <a:srgbClr val="61615C"/>
                </a:solidFill>
                <a:latin typeface="Tomorrow SemiBold" pitchFamily="34" charset="0"/>
                <a:ea typeface="Tomorrow SemiBold" pitchFamily="34" charset="0"/>
                <a:cs typeface="Tomorrow SemiBold" pitchFamily="34" charset="0"/>
              </a:rPr>
              <a:t>3</a:t>
            </a:r>
            <a:endParaRPr lang="zh-CN" altLang="en-US" sz="2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5" name="矩形"/>
          <p:cNvSpPr>
            <a:spLocks/>
          </p:cNvSpPr>
          <p:nvPr/>
        </p:nvSpPr>
        <p:spPr>
          <a:xfrm rot="0">
            <a:off x="4014787" y="2876028"/>
            <a:ext cx="1114424" cy="139303"/>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850" b="0" i="0" u="none" strike="noStrike" kern="1200" cap="none" spc="0" baseline="0">
                <a:solidFill>
                  <a:srgbClr val="61615C"/>
                </a:solidFill>
                <a:latin typeface="Tomorrow SemiBold" pitchFamily="34" charset="0"/>
                <a:ea typeface="Tomorrow SemiBold" pitchFamily="34" charset="0"/>
                <a:cs typeface="Tomorrow SemiBold" pitchFamily="34" charset="0"/>
              </a:rPr>
              <a:t>Integration Targets</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276" name="矩形"/>
          <p:cNvSpPr>
            <a:spLocks/>
          </p:cNvSpPr>
          <p:nvPr/>
        </p:nvSpPr>
        <p:spPr>
          <a:xfrm rot="0">
            <a:off x="3240063" y="3053729"/>
            <a:ext cx="2663875" cy="122560"/>
          </a:xfrm>
          <a:prstGeom prst="rect"/>
          <a:noFill/>
          <a:ln w="12700" cmpd="sng" cap="flat">
            <a:noFill/>
            <a:prstDash val="solid"/>
            <a:miter/>
          </a:ln>
        </p:spPr>
        <p:txBody>
          <a:bodyPr vert="horz" wrap="none" lIns="0" tIns="0" rIns="0" bIns="0" anchor="t" anchorCtr="0">
            <a:prstTxWarp prst="textNoShape"/>
          </a:bodyPr>
          <a:lstStyle/>
          <a:p>
            <a:pPr marL="0" indent="0" algn="ctr">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ATS, LinkedIn, and Calendar systems</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7" name="矩形"/>
          <p:cNvSpPr>
            <a:spLocks/>
          </p:cNvSpPr>
          <p:nvPr/>
        </p:nvSpPr>
        <p:spPr>
          <a:xfrm rot="0">
            <a:off x="5984007" y="2489225"/>
            <a:ext cx="2663875" cy="294233"/>
          </a:xfrm>
          <a:prstGeom prst="rect"/>
          <a:noFill/>
          <a:ln w="12700" cmpd="sng" cap="flat">
            <a:noFill/>
            <a:prstDash val="solid"/>
            <a:miter/>
          </a:ln>
        </p:spPr>
        <p:txBody>
          <a:bodyPr vert="horz" wrap="none" lIns="0" tIns="0" rIns="0" bIns="0" anchor="t" anchorCtr="0">
            <a:prstTxWarp prst="textNoShape"/>
          </a:bodyPr>
          <a:lstStyle/>
          <a:p>
            <a:pPr marL="0" indent="0" algn="ctr">
              <a:lnSpc>
                <a:spcPct val="83000"/>
              </a:lnSpc>
              <a:spcBef>
                <a:spcPts val="0"/>
              </a:spcBef>
              <a:spcAft>
                <a:spcPts val="0"/>
              </a:spcAft>
              <a:buNone/>
            </a:pPr>
            <a:r>
              <a:rPr lang="en-US" altLang="zh-CN" sz="2300" b="0" i="0" u="none" strike="noStrike" kern="1200" cap="none" spc="0" baseline="0">
                <a:solidFill>
                  <a:srgbClr val="61615C"/>
                </a:solidFill>
                <a:latin typeface="Tomorrow SemiBold" pitchFamily="34" charset="0"/>
                <a:ea typeface="Tomorrow SemiBold" pitchFamily="34" charset="0"/>
                <a:cs typeface="Tomorrow SemiBold" pitchFamily="34" charset="0"/>
              </a:rPr>
              <a:t>1</a:t>
            </a:r>
            <a:endParaRPr lang="zh-CN" altLang="en-US" sz="2300" b="0" i="0" u="none" strike="noStrike" kern="1200" cap="none" spc="0" baseline="0">
              <a:solidFill>
                <a:schemeClr val="tx1"/>
              </a:solidFill>
              <a:latin typeface="Calibri" pitchFamily="0" charset="0"/>
              <a:ea typeface="等线" pitchFamily="0" charset="0"/>
              <a:cs typeface="Calibri" pitchFamily="0" charset="0"/>
            </a:endParaRPr>
          </a:p>
        </p:txBody>
      </p:sp>
      <p:sp>
        <p:nvSpPr>
          <p:cNvPr id="278" name="矩形"/>
          <p:cNvSpPr>
            <a:spLocks/>
          </p:cNvSpPr>
          <p:nvPr/>
        </p:nvSpPr>
        <p:spPr>
          <a:xfrm rot="0">
            <a:off x="6758732" y="2876028"/>
            <a:ext cx="1114424" cy="139303"/>
          </a:xfrm>
          <a:prstGeom prst="rect"/>
          <a:noFill/>
          <a:ln w="12700" cmpd="sng" cap="flat">
            <a:noFill/>
            <a:prstDash val="solid"/>
            <a:miter/>
          </a:ln>
        </p:spPr>
        <p:txBody>
          <a:bodyPr vert="horz" wrap="none" lIns="0" tIns="0" rIns="0" bIns="0" anchor="t" anchorCtr="0">
            <a:prstTxWarp prst="textNoShape"/>
          </a:bodyPr>
          <a:lstStyle/>
          <a:p>
            <a:pPr marL="0" indent="0" algn="ctr">
              <a:lnSpc>
                <a:spcPct val="104000"/>
              </a:lnSpc>
              <a:spcBef>
                <a:spcPts val="0"/>
              </a:spcBef>
              <a:spcAft>
                <a:spcPts val="0"/>
              </a:spcAft>
              <a:buNone/>
            </a:pPr>
            <a:r>
              <a:rPr lang="en-US" altLang="zh-CN" sz="850" b="0" i="0" u="none" strike="noStrike" kern="1200" cap="none" spc="0" baseline="0">
                <a:solidFill>
                  <a:srgbClr val="61615C"/>
                </a:solidFill>
                <a:latin typeface="Tomorrow SemiBold" pitchFamily="34" charset="0"/>
                <a:ea typeface="Tomorrow SemiBold" pitchFamily="34" charset="0"/>
                <a:cs typeface="Tomorrow SemiBold" pitchFamily="34" charset="0"/>
              </a:rPr>
              <a:t>Cloud Goal</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279" name="矩形"/>
          <p:cNvSpPr>
            <a:spLocks/>
          </p:cNvSpPr>
          <p:nvPr/>
        </p:nvSpPr>
        <p:spPr>
          <a:xfrm rot="0">
            <a:off x="5984007" y="3053729"/>
            <a:ext cx="2663875" cy="122560"/>
          </a:xfrm>
          <a:prstGeom prst="rect"/>
          <a:noFill/>
          <a:ln w="12700" cmpd="sng" cap="flat">
            <a:noFill/>
            <a:prstDash val="solid"/>
            <a:miter/>
          </a:ln>
        </p:spPr>
        <p:txBody>
          <a:bodyPr vert="horz" wrap="none" lIns="0" tIns="0" rIns="0" bIns="0" anchor="t" anchorCtr="0">
            <a:prstTxWarp prst="textNoShape"/>
          </a:bodyPr>
          <a:lstStyle/>
          <a:p>
            <a:pPr marL="0" indent="0" algn="ctr">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Full SaaS deployment ready</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0" name="圆角矩形"/>
          <p:cNvSpPr>
            <a:spLocks/>
          </p:cNvSpPr>
          <p:nvPr/>
        </p:nvSpPr>
        <p:spPr>
          <a:xfrm rot="0">
            <a:off x="496119" y="3270572"/>
            <a:ext cx="8151763" cy="9524"/>
          </a:xfrm>
          <a:prstGeom prst="roundRect">
            <a:avLst>
              <a:gd name="adj" fmla="val 60000"/>
            </a:avLst>
          </a:prstGeom>
          <a:solidFill>
            <a:srgbClr val="61615C">
              <a:alpha val="50000"/>
            </a:srgbClr>
          </a:solidFill>
          <a:ln w="12700" cmpd="sng" cap="flat">
            <a:noFill/>
            <a:prstDash val="solid"/>
            <a:miter/>
          </a:ln>
        </p:spPr>
      </p:sp>
      <p:sp>
        <p:nvSpPr>
          <p:cNvPr id="281" name="矩形"/>
          <p:cNvSpPr>
            <a:spLocks/>
          </p:cNvSpPr>
          <p:nvPr/>
        </p:nvSpPr>
        <p:spPr>
          <a:xfrm rot="0">
            <a:off x="496119" y="3398416"/>
            <a:ext cx="2240310" cy="222869"/>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1400" b="0" i="0" u="none" strike="noStrike" kern="1200" cap="none" spc="0" baseline="0">
                <a:solidFill>
                  <a:srgbClr val="1D1D1B"/>
                </a:solidFill>
                <a:latin typeface="Tomorrow SemiBold" pitchFamily="34" charset="0"/>
                <a:ea typeface="Tomorrow SemiBold" pitchFamily="34" charset="0"/>
                <a:cs typeface="Tomorrow SemiBold" pitchFamily="34" charset="0"/>
              </a:rPr>
              <a:t>Thank You</a:t>
            </a:r>
            <a:endParaRPr lang="zh-CN" altLang="en-US" sz="14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2" name="矩形"/>
          <p:cNvSpPr>
            <a:spLocks/>
          </p:cNvSpPr>
          <p:nvPr/>
        </p:nvSpPr>
        <p:spPr>
          <a:xfrm rot="0">
            <a:off x="496119" y="3717354"/>
            <a:ext cx="8608963" cy="122560"/>
          </a:xfrm>
          <a:prstGeom prst="rect"/>
          <a:noFill/>
          <a:ln w="12700" cmpd="sng" cap="flat">
            <a:noFill/>
            <a:prstDash val="solid"/>
            <a:miter/>
          </a:ln>
        </p:spPr>
        <p:txBody>
          <a:bodyPr vert="horz" wrap="none" lIns="0" tIns="0" rIns="0" bIns="0" anchor="t" anchorCtr="0">
            <a:prstTxWarp prst="textNoShape"/>
          </a:bodyPr>
          <a:lstStyle/>
          <a:p>
            <a:pPr marL="0" indent="0" algn="l">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We appreciate your time and attention. RecruitFlow AI is ready to transform how organizations hire — faster, smarter, and fairer.</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86" name="圆角矩形"/>
          <p:cNvSpPr>
            <a:spLocks/>
          </p:cNvSpPr>
          <p:nvPr/>
        </p:nvSpPr>
        <p:spPr>
          <a:xfrm rot="0">
            <a:off x="552165" y="3911947"/>
            <a:ext cx="3409622" cy="502368"/>
          </a:xfrm>
          <a:prstGeom prst="roundRect">
            <a:avLst>
              <a:gd name="adj" fmla="val 2662"/>
            </a:avLst>
          </a:prstGeom>
          <a:solidFill>
            <a:srgbClr val="FCFCFC"/>
          </a:solidFill>
          <a:ln w="9525" cmpd="sng" cap="flat">
            <a:solidFill>
              <a:srgbClr val="D6D0D0"/>
            </a:solidFill>
            <a:prstDash val="solid"/>
            <a:round/>
          </a:ln>
        </p:spPr>
      </p:sp>
      <p:sp>
        <p:nvSpPr>
          <p:cNvPr id="290" name="矩形"/>
          <p:cNvSpPr>
            <a:spLocks/>
          </p:cNvSpPr>
          <p:nvPr/>
        </p:nvSpPr>
        <p:spPr>
          <a:xfrm rot="0">
            <a:off x="614284" y="3968689"/>
            <a:ext cx="6572105" cy="101805"/>
          </a:xfrm>
          <a:prstGeom prst="rect"/>
          <a:noFill/>
          <a:ln w="12700" cmpd="sng" cap="flat">
            <a:noFill/>
            <a:prstDash val="solid"/>
            <a:miter/>
          </a:ln>
        </p:spPr>
        <p:txBody>
          <a:bodyPr vert="horz" wrap="none" lIns="0" tIns="0" rIns="0" bIns="0" anchor="t" anchorCtr="0">
            <a:prstTxWarp prst="textNoShape"/>
          </a:bodyPr>
          <a:lstStyle/>
          <a:p>
            <a:pPr marL="0" indent="0" algn="l">
              <a:lnSpc>
                <a:spcPct val="104000"/>
              </a:lnSpc>
              <a:spcBef>
                <a:spcPts val="0"/>
              </a:spcBef>
              <a:spcAft>
                <a:spcPts val="0"/>
              </a:spcAft>
              <a:buNone/>
            </a:pPr>
            <a:r>
              <a:rPr lang="en-US" altLang="zh-CN" sz="850" b="0" i="0" u="none" strike="noStrike" kern="1200" cap="none" spc="0" baseline="0">
                <a:solidFill>
                  <a:srgbClr val="000000"/>
                </a:solidFill>
                <a:latin typeface="Twemoji Mozilla" pitchFamily="34" charset="0"/>
                <a:ea typeface="Twemoji Mozilla" pitchFamily="34" charset="0"/>
                <a:cs typeface="Twemoji Mozilla" pitchFamily="34" charset="0"/>
              </a:rPr>
              <a:t>❓</a:t>
            </a:r>
            <a:r>
              <a:rPr lang="en-US" altLang="zh-CN" sz="850" b="0" i="0" u="none" strike="noStrike" kern="1200" cap="none" spc="0" baseline="0">
                <a:solidFill>
                  <a:srgbClr val="61615C"/>
                </a:solidFill>
                <a:latin typeface="Tomorrow SemiBold" pitchFamily="34" charset="0"/>
                <a:ea typeface="Tomorrow SemiBold" pitchFamily="34" charset="0"/>
                <a:cs typeface="Tomorrow SemiBold" pitchFamily="34" charset="0"/>
              </a:rPr>
              <a:t> Questions?</a:t>
            </a:r>
            <a:endParaRPr lang="zh-CN" altLang="en-US" sz="850" b="0" i="0" u="none" strike="noStrike" kern="1200" cap="none" spc="0" baseline="0">
              <a:solidFill>
                <a:schemeClr val="tx1"/>
              </a:solidFill>
              <a:latin typeface="Calibri" pitchFamily="0" charset="0"/>
              <a:ea typeface="等线" pitchFamily="0" charset="0"/>
              <a:cs typeface="Calibri" pitchFamily="0" charset="0"/>
            </a:endParaRPr>
          </a:p>
        </p:txBody>
      </p:sp>
      <p:sp>
        <p:nvSpPr>
          <p:cNvPr id="291" name="矩形"/>
          <p:cNvSpPr>
            <a:spLocks/>
          </p:cNvSpPr>
          <p:nvPr/>
        </p:nvSpPr>
        <p:spPr>
          <a:xfrm rot="0">
            <a:off x="663529" y="4202609"/>
            <a:ext cx="7504610" cy="46118"/>
          </a:xfrm>
          <a:prstGeom prst="rect"/>
          <a:noFill/>
          <a:ln w="12700" cmpd="sng" cap="flat">
            <a:noFill/>
            <a:prstDash val="solid"/>
            <a:miter/>
          </a:ln>
        </p:spPr>
        <p:txBody>
          <a:bodyPr vert="horz" wrap="none" lIns="0" tIns="0" rIns="0" bIns="0" anchor="t" anchorCtr="0">
            <a:prstTxWarp prst="textNoShape"/>
          </a:bodyPr>
          <a:lstStyle/>
          <a:p>
            <a:pPr marL="0" indent="0" algn="l">
              <a:lnSpc>
                <a:spcPct val="115000"/>
              </a:lnSpc>
              <a:spcBef>
                <a:spcPts val="0"/>
              </a:spcBef>
              <a:spcAft>
                <a:spcPts val="0"/>
              </a:spcAft>
              <a:buNone/>
            </a:pPr>
            <a:r>
              <a:rPr lang="en-US" altLang="zh-CN" sz="700" b="0" i="0" u="none" strike="noStrike" kern="1200" cap="none" spc="0" baseline="0">
                <a:solidFill>
                  <a:srgbClr val="61615C"/>
                </a:solidFill>
                <a:latin typeface="Tomorrow" pitchFamily="34" charset="0"/>
                <a:ea typeface="Tomorrow" pitchFamily="34" charset="0"/>
                <a:cs typeface="Tomorrow" pitchFamily="34" charset="0"/>
              </a:rPr>
              <a:t>We welcome your feedback and curiosity</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
        <p:nvSpPr>
          <p:cNvPr id="292" name="圆角矩形"/>
          <p:cNvSpPr>
            <a:spLocks/>
          </p:cNvSpPr>
          <p:nvPr/>
        </p:nvSpPr>
        <p:spPr>
          <a:xfrm rot="0">
            <a:off x="496119" y="4486349"/>
            <a:ext cx="8151763" cy="288800"/>
          </a:xfrm>
          <a:prstGeom prst="roundRect">
            <a:avLst>
              <a:gd name="adj" fmla="val 4629"/>
            </a:avLst>
          </a:prstGeom>
          <a:solidFill>
            <a:srgbClr val="E6E6E5"/>
          </a:solidFill>
          <a:ln w="12700" cmpd="sng" cap="flat">
            <a:noFill/>
            <a:prstDash val="solid"/>
            <a:miter/>
          </a:ln>
        </p:spPr>
      </p:sp>
      <p:pic>
        <p:nvPicPr>
          <p:cNvPr id="293" name="图片" descr="preencoded.png"/>
          <p:cNvPicPr>
            <a:picLocks noChangeAspect="1"/>
          </p:cNvPicPr>
          <p:nvPr/>
        </p:nvPicPr>
        <p:blipFill>
          <a:blip r:embed="rId1" cstate="print"/>
          <a:stretch>
            <a:fillRect/>
          </a:stretch>
        </p:blipFill>
        <p:spPr>
          <a:xfrm rot="0">
            <a:off x="585267" y="4600649"/>
            <a:ext cx="111397" cy="89148"/>
          </a:xfrm>
          <a:prstGeom prst="rect"/>
          <a:noFill/>
          <a:ln w="12700" cmpd="sng" cap="flat">
            <a:noFill/>
            <a:prstDash val="solid"/>
            <a:miter/>
          </a:ln>
        </p:spPr>
      </p:pic>
      <p:sp>
        <p:nvSpPr>
          <p:cNvPr id="294" name="矩形"/>
          <p:cNvSpPr>
            <a:spLocks/>
          </p:cNvSpPr>
          <p:nvPr/>
        </p:nvSpPr>
        <p:spPr>
          <a:xfrm rot="0">
            <a:off x="785813" y="4572670"/>
            <a:ext cx="8230121" cy="122560"/>
          </a:xfrm>
          <a:prstGeom prst="rect"/>
          <a:noFill/>
          <a:ln w="12700" cmpd="sng" cap="flat">
            <a:noFill/>
            <a:prstDash val="solid"/>
            <a:miter/>
          </a:ln>
        </p:spPr>
        <p:txBody>
          <a:bodyPr vert="horz" wrap="none" lIns="0" tIns="0" rIns="0" bIns="0" anchor="t" anchorCtr="0">
            <a:prstTxWarp prst="textNoShape"/>
          </a:bodyPr>
          <a:lstStyle/>
          <a:p>
            <a:pPr marL="0" indent="0" algn="l">
              <a:lnSpc>
                <a:spcPct val="115000"/>
              </a:lnSpc>
              <a:spcBef>
                <a:spcPts val="0"/>
              </a:spcBef>
              <a:spcAft>
                <a:spcPts val="0"/>
              </a:spcAft>
              <a:buNone/>
            </a:pPr>
            <a:r>
              <a:rPr lang="en-US" altLang="zh-CN" sz="700" b="1" i="0" u="none" strike="noStrike" kern="1200" cap="none" spc="0" baseline="0">
                <a:solidFill>
                  <a:srgbClr val="000000"/>
                </a:solidFill>
                <a:latin typeface="Tomorrow Bold" pitchFamily="34" charset="0"/>
                <a:ea typeface="Tomorrow Bold" pitchFamily="34" charset="0"/>
                <a:cs typeface="Tomorrow Bold" pitchFamily="34" charset="0"/>
              </a:rPr>
              <a:t>Speaker Notes:</a:t>
            </a:r>
            <a:r>
              <a:rPr lang="en-US" altLang="zh-CN" sz="700" b="0" i="0" u="none" strike="noStrike" kern="1200" cap="none" spc="0" baseline="0">
                <a:solidFill>
                  <a:srgbClr val="000000"/>
                </a:solidFill>
                <a:latin typeface="Tomorrow" pitchFamily="34" charset="0"/>
                <a:ea typeface="Tomorrow" pitchFamily="34" charset="0"/>
                <a:cs typeface="Tomorrow" pitchFamily="34" charset="0"/>
              </a:rPr>
              <a:t> Close with confidence. Summarize the three phases briefly, then open the floor for questions. Have the GitHub repo and contact details ready to share. If presenting</a:t>
            </a:r>
            <a:endParaRPr lang="zh-CN" altLang="en-US" sz="700" b="0" i="0" u="none" strike="noStrike" kern="1200" cap="none" spc="0" baseline="0">
              <a:solidFill>
                <a:schemeClr val="tx1"/>
              </a:solidFill>
              <a:latin typeface="Calibri" pitchFamily="0" charset="0"/>
              <a:ea typeface="等线" pitchFamily="0" charset="0"/>
              <a:cs typeface="Calibri" pitchFamily="0" charset="0"/>
            </a:endParaRPr>
          </a:p>
        </p:txBody>
      </p:sp>
    </p:spTree>
    <p:extLst>
      <p:ext uri="{BB962C8B-B14F-4D97-AF65-F5344CB8AC3E}">
        <p14:creationId xmlns:p14="http://schemas.microsoft.com/office/powerpoint/2010/main" val="30878115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theme>
</file>

<file path=docProps/app.xml><?xml version="1.0" encoding="utf-8"?>
<Properties xmlns="http://schemas.openxmlformats.org/officeDocument/2006/extended-properties">
  <Template>Normal.eit</Template>
  <TotalTime>10</TotalTime>
  <Application>Yozo_Office</Application>
</Properties>
</file>

<file path=docProps/core.xml><?xml version="1.0" encoding="utf-8"?>
<cp:coreProperties xmlns:cp="http://schemas.openxmlformats.org/package/2006/metadata/core-properties" xmlns:dc="http://purl.org/dc/elements/1.1/" xmlns:dcterms="http://purl.org/dc/terms/" xmlns:xsi="http://www.w3.org/2001/XMLSchema-instance">
  <cp:lastModifiedBy>root</cp:lastModifiedBy>
  <cp:revision>1</cp:revision>
  <dcterms:created xsi:type="dcterms:W3CDTF">2026-07-05T02:27:26Z</dcterms:created>
  <dcterms:modified xsi:type="dcterms:W3CDTF">2026-07-05T00:48:16Z</dcterms:modified>
</cp:coreProperties>
</file>